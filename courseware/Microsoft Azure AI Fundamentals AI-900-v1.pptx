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p900-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713232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235440" y="749808"/>
            <a:ext cx="1389888" cy="89611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941832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AI-900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298448"/>
            <a:ext cx="13898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AZURE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996696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Microsoft Azure AI Fundamentals (AI-900)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169663"/>
            <a:ext cx="2029968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1713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55B66"/>
                </a:solidFill>
                <a:latin typeface="Arial"/>
              </a:rPr>
              <a:t>WSQ Course Code: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006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B66"/>
                </a:solidFill>
                <a:latin typeface="Arial"/>
              </a:rPr>
              <a:t>Trainer: 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0749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B66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742432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5B66"/>
                </a:solidFill>
                <a:latin typeface="Arial"/>
              </a:rPr>
              <a:t>Version 1.0  ·  8 July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053328"/>
            <a:ext cx="6858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20" b="0">
                <a:solidFill>
                  <a:srgbClr val="555B66"/>
                </a:solidFill>
                <a:latin typeface="Arial"/>
              </a:rPr>
              <a:t>(c)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Confirm attendance, facilities, emergency procedures, and course timing.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Use the LMS/TMS portal for courseware, digital attendance, feedback, and assessment.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Keep this deck and Learner Guide available during class activities.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TRAQOM -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Take AM, PM, and assessment digital attendance when the QR code is displayed.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Scan the QR code with your mobile phone camera and submit the attendance form.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Minimum 75% attendance is required for funding eligibility.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62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74519"/>
            <a:ext cx="33375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874519"/>
            <a:ext cx="3337560" cy="100584"/>
          </a:xfrm>
          <a:prstGeom prst="rect">
            <a:avLst/>
          </a:prstGeom>
          <a:solidFill>
            <a:srgbClr val="62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9072" y="2542032"/>
            <a:ext cx="1572768" cy="1572768"/>
          </a:xfrm>
          <a:prstGeom prst="ellipse">
            <a:avLst/>
          </a:prstGeom>
          <a:solidFill>
            <a:srgbClr val="62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2971800"/>
            <a:ext cx="15727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27939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00600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55B66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187451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1874519"/>
            <a:ext cx="82296" cy="576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02082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229514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288" y="260603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90288" y="2606039"/>
            <a:ext cx="82296" cy="5760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275234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4608" y="302666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90288" y="333755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90288" y="3337559"/>
            <a:ext cx="82296" cy="5760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348386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4608" y="375818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406907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0288" y="4069079"/>
            <a:ext cx="82296" cy="5760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3752" y="421538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4608" y="448970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90288" y="480059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90288" y="4800599"/>
            <a:ext cx="82296" cy="576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2" y="494690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64608" y="522122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90288" y="5532119"/>
            <a:ext cx="6995160" cy="5760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90288" y="5532119"/>
            <a:ext cx="82296" cy="5760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5678423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4608" y="5952743"/>
            <a:ext cx="4069080" cy="13716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901952"/>
            <a:ext cx="3337560" cy="422452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1901952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2395728"/>
            <a:ext cx="1572768" cy="15727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825496"/>
            <a:ext cx="15727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3434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9204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55B66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901952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901952"/>
            <a:ext cx="82296" cy="896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210312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359152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017520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017520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184" y="32186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3474720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133088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133088"/>
            <a:ext cx="82296" cy="896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433425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4590288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 agents, automation, cloud, data and app development.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5248656"/>
            <a:ext cx="6995160" cy="89611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5248656"/>
            <a:ext cx="82296" cy="896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544982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1184" y="5705856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Your experience with Azure, AI, analytics, or cloud services.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One AI scenario you want to understand by the end of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78308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8308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12264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14884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78308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783080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21122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3113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2" y="214884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42900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429000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758184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7705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79476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42900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3429000"/>
            <a:ext cx="82296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0" y="3758184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7705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2" y="379476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07492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" y="5074920"/>
            <a:ext cx="82296" cy="1143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5404104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2297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544068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1072" y="5074920"/>
            <a:ext cx="5394960" cy="1143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5074920"/>
            <a:ext cx="82296" cy="1143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0" y="5404104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52297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2632" y="5440680"/>
            <a:ext cx="4069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Portal: https://lms-tms.tertiaryinfotech.com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Download slides and Learner Guide from the portal.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Courseware and approved materials may be used for the open-book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GITHUB 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Download the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Open: github.com/tertiarycourses/TGS-2023021100---Microsoft-Azure-AI-Fundamentals-AI-900-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the labs in order because later activities reuse the same Azure AI vocabulary.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Use an instructor-provided Azure subscription, Microsoft Learn sandbox, or Azure free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Lesson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Trainer and learner introductions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AI workloads and responsible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01: AI workloads and responsible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02: Machine learning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Digital attendance (PM)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Azure Machine Learning and model lifecycle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03: Azure Machine Learning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04: Computer vision, image analysis, OCR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Day 1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Lesson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NLP, speech, translation, document intelligence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Labs 05-07: Azure AI services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Generative AI, Foundry, OpenAI, model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08: Generative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09: Solution design and governance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Lab 10: Capstone and course review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Digital attendance (Assessment) and final assessment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TRAQOM survey and closing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WSQ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TSC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Applied 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Artificial Intelligence Application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TSC Code: ICT-DIT-4016-1.1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Cloud and AI service awareness for business and technical roles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Responsible use of AI-enabled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AI workloads from business requirements.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Select suitable Azure AI services.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Recognize governance, privacy, safety, and cost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TSC Knowledge (K)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Arial"/>
              </a:rPr>
              <a:t>TSC Title: Artificial Intelligence Application | TSC Code: ICT-DIT-4016-1.1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Artificial intelligence workload types and business use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46888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Responsible AI principles, privacy, security, transparency, and accountability.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3580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Machine learning concepts including features, labels, training, evaluation, and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7472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56616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Azure AI service capabilities for vision, language, speech, documents, and search.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1480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Generative AI concepts including prompts, foundation models, grounding, and content safety.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7200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8172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K6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66344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Governance, access control, monitoring, cost, and resource cleanup considerations.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TSC Abilities 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Arial"/>
              </a:rPr>
              <a:t>Abilities are practiced through Labs 01-10 and referenced in the Lesson Plan slide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AI workloads from practical business scenarios and input/output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46888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Azure AI services to workload requirements and learner lab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3580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responsible AI review questions to vision, language, speech, document, and generative AI use cases.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7472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56616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Explain machine learning and generative AI concepts using simple workplace examples.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1480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Recommend basic security, privacy, monitoring, and cost controls for AI solutions.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72000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8172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663440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Prepare a capstone service map and review plan aligned to the labs.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Skills Framework links abilities to labs and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514600" cy="3566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84248"/>
            <a:ext cx="2185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1122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AI workloads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Responsible AI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Azure AI services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Governance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3337560"/>
            <a:ext cx="219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783080"/>
            <a:ext cx="2514600" cy="3566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1984248"/>
            <a:ext cx="2185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32888"/>
            <a:ext cx="21122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Map scenarios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Select services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Validate outputs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Explain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337560"/>
            <a:ext cx="219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783080"/>
            <a:ext cx="2514600" cy="3566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84248"/>
            <a:ext cx="2185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532888"/>
            <a:ext cx="21122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Labs 01-10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Checkpoints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Capstone service map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Cleanup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3337560"/>
            <a:ext cx="21945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1783080"/>
            <a:ext cx="2514600" cy="35661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984248"/>
            <a:ext cx="2185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532888"/>
            <a:ext cx="211226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Open-book MCQ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Competency evidence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-  </a:t>
            </a:r>
            <a:r>
              <a:rPr sz="115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50992"/>
            <a:ext cx="10424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Arial"/>
              </a:rPr>
              <a:t>Alignment rule: every course outcome is practiced in the labs and referenced in the lesson plan slide numbers.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Identify common AI workloads and use cases.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Explain responsible AI principles and human review needs.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Distinguish regression, classification, clustering, deep learning, and transformer-based workloads.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Describe Azure Machine Learning and automated ML concepts.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Map vision, NLP, speech, translation, document, and generative AI scenarios to Azure services.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-  </a:t>
            </a:r>
            <a:r>
              <a:rPr sz="1600">
                <a:solidFill>
                  <a:srgbClr val="161B26"/>
                </a:solidFill>
                <a:latin typeface="Arial"/>
              </a:rPr>
              <a:t>Recognize security, privacy, governance, and cost controls for AI solutions.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TOPICS 1-4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Vision and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AI workloads and responsible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Machine learning fundamentals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Features, labels, training, evaluation, deployment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Azure Machine Learning and AutoML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Image analysis, OCR, object detection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Sentiment, key phrase extraction, entity recognition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Speech recognition, speech synthesis, translation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TOPICS 5-8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434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Documents and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Governance and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Document Intelligence and knowledge mining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Azure AI Search concepts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Generative AI, prompts, LLMs, grounding, RAG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Azure AI Foundry, Azure OpenAI, model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Security, privacy, managed identity, RBAC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Budget alerts and resource cleanup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Capstone service mapping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Assessment preparation and course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Format: written / MCQ assessment on the LMS.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Assessment is open book: approved course slides, Learner Guide, and materials only.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the assessment digital attendance before starting.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Appeals follow the centre's published assessment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Place phones and other materials under the table or as instructed.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No discussion during assessment.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Submit answers on the LMS before the time ends.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Sign the Assessment Summary Record when instructed.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Minimum attendance rate of 75% based on SSG digital attendance records.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the assessment and be assessed as Competent.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course feedback and TRAQOM survey when requested.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4241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Arial"/>
              </a:rPr>
              <a:t>Use the GitHub repository to review lab files, revisit steps after class, and keep your Learner Guide aligned with the exercises.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0469880" cy="7772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https://github.com/tertiarycourses/TGS-2023021100---Microsoft-Azure-AI-Fundamentals-AI-900-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32461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63931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0050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Clone the repository with git clone &lt;course-repo-url&gt;.git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429000"/>
            <a:ext cx="32461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363931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40050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a ZIP from GitHub: Code &gt; Download ZIP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429000"/>
            <a:ext cx="32461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3639312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Run in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40050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Azure portal, Microsoft Learn, and instructor-provided accounts as directed.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BEFORE YOU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Certification &amp; TRAQOM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Complete the certification and TRAQOM survey to receive your certificate.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Confirm AM, PM, and assessment attendance are recorded.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-  </a:t>
            </a:r>
            <a:r>
              <a:rPr sz="1900">
                <a:solidFill>
                  <a:srgbClr val="161B26"/>
                </a:solidFill>
                <a:latin typeface="Arial"/>
              </a:rPr>
              <a:t>Keep the Learner Guide for post-course revision and workplace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AI-900 builds recognition skill through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97763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55B66"/>
                </a:solidFill>
                <a:latin typeface="Arial"/>
              </a:rPr>
              <a:t>Learners practice mapping business needs to AI workloads, Azure services, and responsible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Course Status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Microsoft Learn states that Exam AI-900 retired on June 30, 2026.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This courseware remains aligned to the AI-900 skills outline and Azure AI fundamentals concepts.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The course should be positioned as Azure AI Fundamentals training, not as a guarantee of exam appointment availability.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AI workload recognition is the core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Prediction and classification: use data to estimate values or categories.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Vision: interpret images, detect objects, and read text with OCR.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Language and speech: understand text, translate, transcribe, and synthesize voice.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Documents: extract structured information and make unstructured content searchable.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Generative AI: draft, summarize, answer, and assist using foundation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Azure AI services match workloads to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55B66"/>
                </a:solidFill>
                <a:latin typeface="Arial"/>
              </a:rPr>
              <a:t>Start from the workload, then select the Azure AI capability that best fits the input, output, and control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76272"/>
            <a:ext cx="2880360" cy="123444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450592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Azure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852928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Service selection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675887"/>
            <a:ext cx="2880360" cy="80467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886200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Match scenario to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874519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874519"/>
            <a:ext cx="73152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029967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286000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532887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Predict values, classify, cluster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73552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273552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429000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685032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AI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931920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Analyze images, OCR, detect objects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72584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672584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828032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084064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AI Language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330952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Sentiment, entities, key phrases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874519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1874519"/>
            <a:ext cx="73152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9288" y="2029967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Speech &amp; Translation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2286000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AI Speech / Translator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2532887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Transcribe, synthesize, translate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3273552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3273552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3429000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Documents &amp;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3685032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Document Intelligence / AI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3931920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Extract forms, index knowledge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4672584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4672584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9288" y="4828032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Generative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5084064"/>
            <a:ext cx="2788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Azure AI Foundry / Azure OpenAI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9288" y="5330952"/>
            <a:ext cx="2788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30" b="0">
                <a:solidFill>
                  <a:srgbClr val="555B66"/>
                </a:solidFill>
                <a:latin typeface="Arial"/>
              </a:rPr>
              <a:t>Prompt, ground, review 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893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B66"/>
                </a:solidFill>
                <a:latin typeface="Arial"/>
              </a:rPr>
              <a:t>Lab connection: learners repeatedly identify the workload, choose the service, validate the result, and name a responsible AI control.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Responsible AI keeps automation accountable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Fairness: evaluate whether different groups are affected unequally.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Reliability and safety: test outputs and define fallback paths.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Privacy and security: protect data, access, keys, and logs.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Inclusiveness: design for different languages, abilities, and contexts.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Transparency and accountability: explain when AI is used and who owns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Machine learning follows a repeatable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Define the prediction task and business success measure.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Prepare features and labels from trustworthy training data.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Train and evaluate a model using appropriate metrics.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Deploy, monitor, retrain, and govern the model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Generative AI adds new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Prompts guide the model, but outputs still need review.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Grounding and retrieval reduce unsupported answers by adding source context.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Content filters, evaluations, and monitoring help manage harmful or inaccurate outputs.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Users should know when content is AI-assisted.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AI Workloads and Responsible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A retail company wants to use AI for product recommendations, customer support, document processing, image analysis, and marketing content generation. You must identify the workload types and responsible AI concerns.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common AI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Match workloads to business scenarios.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responsible AI principles.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Create a responsible AI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workload examples, Azure service mapping, and a responsible AI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Identify AI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046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46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60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Map Workloads to Azure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Review Responsible AI Principles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1684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6276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627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276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Build a Responsible AI Checklist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workload examples, Azure service mapping, and a responsible AI checklist.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Identify AI Workloads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Map Workloads to Azure Services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Review Responsible AI Principles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Build a Responsible AI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a computer vision workload?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fairness important?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transparency in AI?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Who is accountable for an AI system?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AI-900-style questions often ask you to identify workload types and responsible AI principles from a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Machine Learning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to use historical data to predict outcomes. You must decide which machine learning technique fits each business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Distinguish regression, classification, and clustering.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features, labels, training data, and validation data.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Understand deep learning and transformer concepts.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Match ML techniques to scenarios.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scenario mappings, feature/label examples, and a training/validation explanation.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2 -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2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Classify ML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Identify Features and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Explain Training and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Review Deep Learning and Transformers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Match Technique to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scenario mappings, feature/label examples, and a training/validation explanation.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2 -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2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Classify ML Scenarios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Identify Features and Labels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Explain Training and Validation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Review Deep Learning and Transformers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Match Technique to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2 -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2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regression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classification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clustering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the difference between a feature and a label?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Know how to select the basic ML technique from the wording of a business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Azure Machine Learning, Automated ML, Model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to build a custom churn model but does not yet have a large data science team. You must explain how Azure Machine Learning can support the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Machine Learning capabilities.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automated machine learning.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Understand data, compute, jobs, models, and endpoints.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Map the model lifecycle.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workspace area map, AutoML explanation, and model lifecycle 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3 -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3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Open Azure Machine Learning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Identify Core Workspace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Explain Automated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Map the Model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Choose Compute Safely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workspace area map, AutoML explanation, and model lifecycle 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3 -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3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Open Azure Machine Learning Studio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Identify Core Workspace Areas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Explain Automated ML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Map the Model Lifecycle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Choose Compute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3 -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3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automated machine learning?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a model endpoint?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model monitoring needed?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does compute choice affect cost?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Understand what Azure Machine Learning does at a high level: data, compute, training, automated ML, model management, deployment, and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Computer Vision, Image Analysis, OCR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to analyze product photos, detect damaged items, read shelf labels, and blur faces in store images.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computer vision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Distinguish image classification, object detection, OCR, and face detection.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AI Vision capabilities.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Review responsible AI concerns for vision.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scenario mapping table, Azure AI Vision capability notes, and responsible AI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4 -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4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Match Vision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046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46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60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Explore Azure AI Vision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Design a Vision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1684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6276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627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276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scenario mapping table, Azure AI Vision capability notes, and responsible AI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4 -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4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Match Vision Scenarios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Explore Azure AI Vision Concepts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Design a Vision Solution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4 -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4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OCR?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How is object detection different from image classification?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face analysis sensitive?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Which Azure service supports common vision workloads?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Vision questions often ask which workload or Azure service fits the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Natural Language Processing and Azure AI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receives thousands of customer comments. It wants to detect sentiment, extract key topics, identify product names, and route complaints.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NLP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sentiment analysis, key phrase extraction, entity recognition, and language modeling.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AI Language capabilities.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Review responsible AI concerns for text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NLP workload mapping, Azure AI Language notes, and a feedback pipeline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5 -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5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Map NLP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046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46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60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Review Azure AI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Design a Feedback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1684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6276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627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276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NLP workload mapping, Azure AI Language notes, and a feedback pipeline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5 -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5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Map NLP Workloads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Review Azure AI Language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Design a Feedback Pipeline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5 -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5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sentiment analysis?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entity recognition?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key phrase extraction?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can NLP results require human review?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NLP questions often describe text, speech, translation, sentiment, or entity extraction 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Speech, Translation, Conversational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a multilingual customer support experience with voice input, translated text, and a chatbot for common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speech recognition and synthesis.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translation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Recognize conversational AI use cases.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Map scenarios to Azure AI Speech, Translator, and Bot-related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scenario mappings, Azure service notes, support assistant flow, and responsible AI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6 -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6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Match Speech and Translation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046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046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60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Review Azure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Design a Support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1684" y="2148840"/>
            <a:ext cx="24368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6276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627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276" y="2816352"/>
            <a:ext cx="21076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scenario mappings, Azure service notes, support assistant flow, and responsible AI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6 -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6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Match Speech and Translation Scenarios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Review Azure Services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Design a Support Assistant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6 -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6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speech recognition?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speech synthesis?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translation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human escalation important in conversational 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Speech and translation questions usually test whether you can identify the workload and the right Azure AI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Document Intelligence and Knowledge Mining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processes invoices, receipts, and supplier forms manually. It wants to extract structured information and make documents searchable.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document processing workloads.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form extraction and OCR.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AI Document Intelligence.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knowledge mining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document task map, extraction flow, knowledge mining notes, and responsible AI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7 -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7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Identify Document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Review Azure AI Document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Design an Invoice Processing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Review Knowledge Mining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Responsible AI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document task map, extraction flow, knowledge mining notes, and responsible AI review.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7 -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7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Identify Document Tasks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Review Azure AI Document Intelligence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Design an Invoice Processing Flow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Review Knowledge Mining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Responsible AI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7 -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7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document processing?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How is OCR related to document intelligence?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are confidence scores useful?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knowledge mining?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processing questions may reference OCR, forms, invoices, extraction, and 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Generative AI, Azure AI Foundry, Azure OpenAI, Model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to use generative AI to draft product descriptions, summarize customer reviews, and help support agents respond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Explain generative AI concepts.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common generative AI scenarios.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Describe Azure AI Foundry, Azure OpenAI, and model catalog capabilities.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Apply responsible AI considerations for generative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generative AI glossary, scenario map, Azure capability notes, and safe assistant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8 -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8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Define Generative AI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Match Generative AI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Review Azure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Responsible AI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Design a Safe Assistant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generative AI glossary, scenario map, Azure capability notes, and safe assistant design.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8 -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8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Define Generative AI Terms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Match Generative AI Scenarios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Review Azure Capabilities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Responsible AI Review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Design a Safe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8 -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8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generative AI?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a prompt?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grounding?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responsible AI especially important for generative 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AI fundamentals material emphasizes generative AI, Azure AI Foundry, Azure OpenAI, and model catalog concepts.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AI Solution Design, Security, Cost,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The retail company wants one AI solution that analyzes customer feedback, summarizes themes, and routes urgent complaints. You must recommend services and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Design a simple Azure AI solution.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Identify security, privacy, and governance controls.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Review cost considerations.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Choose appropriate Azure AI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requirements summary, service selection table, security controls, cost controls, and responsible AI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9 -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9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Confirm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Choose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Add Security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Review Cost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5. Add Responsible AI Controls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requirements summary, service selection table, security controls, cost controls, and responsible AI controls.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9 -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9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Confirm Requirements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Choose Services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Add Security Controls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Review Cost Controls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Add Responsible AI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9 -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9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does AI solution design include governance?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RBAC used for?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are budget alerts useful?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Why is human review important for high-impact outputs?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AI solution questions often test choosing the right service and recognizing responsible AI, privacy, and security concerns.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AI-900 Capstone and Course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13258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2763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55B66"/>
                </a:solidFill>
                <a:latin typeface="Arial"/>
              </a:rPr>
              <a:t>You must brief a manager on which Azure AI services could support the retail company and what risks must be managed.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01498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Review all Azure AI fundamentals topics.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Build an end-to-end AI service map.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Practice workload recognition.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Create a personal review plan.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-  </a:t>
            </a:r>
            <a:r>
              <a:rPr sz="1500">
                <a:solidFill>
                  <a:srgbClr val="161B26"/>
                </a:solidFill>
                <a:latin typeface="Arial"/>
              </a:rPr>
              <a:t>Clean up lab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Validation: </a:t>
            </a:r>
            <a:r>
              <a:rPr sz="1400" b="0">
                <a:solidFill>
                  <a:srgbClr val="161B26"/>
                </a:solidFill>
                <a:latin typeface="Arial"/>
              </a:rPr>
              <a:t>You should have a service map, responsible AI action list, ML technique table, review log, and cleanup confirmation.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10 -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10 workflow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1. Build a Service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8686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7286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1878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1878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878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2. Review Responsible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012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1612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96204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6204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6204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3. Review ML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7338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5938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530" y="231343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0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0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4. Build a Review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1664" y="2624328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40264" y="2148840"/>
            <a:ext cx="189829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4856" y="231343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4856" y="236829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856" y="2816352"/>
            <a:ext cx="15691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Validate and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605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7083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Lab evidence: </a:t>
            </a:r>
            <a:r>
              <a:rPr sz="1500" b="0">
                <a:solidFill>
                  <a:srgbClr val="161B26"/>
                </a:solidFill>
                <a:latin typeface="Arial"/>
              </a:rPr>
              <a:t>You should have a service map, responsible AI action list, ML technique table, review log, and cleanup confirmation.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10 - STEP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10 guided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1. Build a Service Map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2. Review Responsible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3. Review ML Techniques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4. Build a Review Log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5. Clean Up Resources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6. Prepare a 7-Day Study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LAB 10 -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Lab 10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42519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Checkpoint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Which AI workload is easiest for you to identify?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Which Azure service names are most confusing?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is the difference between traditional ML and generative AI?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-  </a:t>
            </a:r>
            <a:r>
              <a:rPr sz="1400">
                <a:solidFill>
                  <a:srgbClr val="161B26"/>
                </a:solidFill>
                <a:latin typeface="Arial"/>
              </a:rPr>
              <a:t>What responsible AI principle do you need to review most?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goal is to recognize AI workloads, understand foundational concepts, and describe how Azure AI services support common business 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capstone connects workload, service, and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977639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55B66"/>
                </a:solidFill>
                <a:latin typeface="Arial"/>
              </a:rPr>
              <a:t>A useful Azure AI recommendation names the workload, the service, the data boundary, and the responsible AI guardrail.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Final service selection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What is the input: image, text, speech, document, tabular data, or prompt?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What output is needed: prediction, label, extracted field, transcript, translation, summary, or answer?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Which Azure service is the closest fit?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What privacy, security, human review, and cost controls are required?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-  </a:t>
            </a:r>
            <a:r>
              <a:rPr sz="1700">
                <a:solidFill>
                  <a:srgbClr val="161B26"/>
                </a:solidFill>
                <a:latin typeface="Arial"/>
              </a:rPr>
              <a:t>How will the learner validate the result and clean up resources?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4048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999232"/>
            <a:ext cx="192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6392" y="240487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999232"/>
            <a:ext cx="192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85232" y="2404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Sit written / MCQ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999232"/>
            <a:ext cx="192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34072" y="240487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Submit answers on LMS/TMS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999232"/>
            <a:ext cx="192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55B66"/>
                </a:solidFill>
                <a:latin typeface="Arial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240280"/>
            <a:ext cx="1920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2912" y="24048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253288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4" y="2999232"/>
            <a:ext cx="144475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892040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555B66"/>
                </a:solidFill>
                <a:latin typeface="Arial"/>
              </a:rPr>
              <a:t>The TRAQOM QR code and LMS/TMS submission are handled through the LMS/TMS portal.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91440" cy="640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Take the Online AI-900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99616"/>
            <a:ext cx="10881360" cy="27432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12848"/>
            <a:ext cx="452628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-  </a:t>
            </a:r>
            <a:r>
              <a:rPr sz="1550">
                <a:solidFill>
                  <a:srgbClr val="161B26"/>
                </a:solidFill>
                <a:latin typeface="Arial"/>
              </a:rPr>
              <a:t>Reinforce AI-900 topics with realistic, exam-style questions before assessment day.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-  </a:t>
            </a:r>
            <a:r>
              <a:rPr sz="1550">
                <a:solidFill>
                  <a:srgbClr val="161B26"/>
                </a:solidFill>
                <a:latin typeface="Arial"/>
              </a:rPr>
              <a:t>Use practice sets to test AI workloads, responsible AI, machine learning, Azure AI services and generative AI concepts.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-  </a:t>
            </a:r>
            <a:r>
              <a:rPr sz="1550">
                <a:solidFill>
                  <a:srgbClr val="161B26"/>
                </a:solidFill>
                <a:latin typeface="Arial"/>
              </a:rPr>
              <a:t>Review mode helps you check the correct answer and revisit the concept after each question.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1F6FEB"/>
                </a:solidFill>
                <a:latin typeface="Arial"/>
              </a:rPr>
              <a:t>-  </a:t>
            </a:r>
            <a:r>
              <a:rPr sz="1550">
                <a:solidFill>
                  <a:srgbClr val="161B26"/>
                </a:solidFill>
                <a:latin typeface="Arial"/>
              </a:rPr>
              <a:t>Complete the practice questions from the Tertiary Exams portal, then bring difficult items to the review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35838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Access and practise 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exams.tertiaryinfotech.com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157984"/>
            <a:ext cx="58978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p900-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2295144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16752" y="2295144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2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295144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30" b="0">
                <a:solidFill>
                  <a:srgbClr val="161B26"/>
                </a:solidFill>
                <a:latin typeface="Arial"/>
              </a:rPr>
              <a:t>Practice Exam           About Us              Sign 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80192" y="2267712"/>
            <a:ext cx="530352" cy="219456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2313432"/>
            <a:ext cx="493776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926080"/>
            <a:ext cx="44805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" b="1">
                <a:solidFill>
                  <a:srgbClr val="1F6FEB"/>
                </a:solidFill>
                <a:latin typeface="Arial"/>
              </a:rPr>
              <a:t>All exams / Microsoft / AI-900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9592" y="3072384"/>
            <a:ext cx="420624" cy="164592"/>
          </a:xfrm>
          <a:prstGeom prst="roundRect">
            <a:avLst>
              <a:gd name="adj" fmla="val 5000"/>
            </a:avLst>
          </a:prstGeom>
          <a:solidFill>
            <a:srgbClr val="E8F2FF"/>
          </a:solidFill>
          <a:ln w="12700">
            <a:solidFill>
              <a:srgbClr val="BF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3108960"/>
            <a:ext cx="329184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80" b="1">
                <a:solidFill>
                  <a:srgbClr val="1F6FEB"/>
                </a:solidFill>
                <a:latin typeface="Arial"/>
              </a:rPr>
              <a:t>AI-900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331012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Microsoft Azure AI Fundamentals (AI-900) Practice 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3639312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" b="0">
                <a:solidFill>
                  <a:srgbClr val="555B66"/>
                </a:solidFill>
                <a:latin typeface="Arial"/>
              </a:rPr>
              <a:t>Practice questions for AI workloads, responsible AI, machine learning, Azure AI services and generative AI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9592" y="4151376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7939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" b="1">
                <a:solidFill>
                  <a:srgbClr val="555B66"/>
                </a:solidFill>
                <a:latin typeface="Arial"/>
              </a:rPr>
              <a:t>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46227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4608576"/>
            <a:ext cx="777240" cy="274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50024" y="4151376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9752" y="427939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" b="1">
                <a:solidFill>
                  <a:srgbClr val="555B66"/>
                </a:solidFill>
                <a:latin typeface="Arial"/>
              </a:rPr>
              <a:t>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46227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161B26"/>
                </a:solidFill>
                <a:latin typeface="Arial"/>
              </a:rPr>
              <a:t>AI-900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9752" y="4608576"/>
            <a:ext cx="777240" cy="274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0456" y="4151376"/>
            <a:ext cx="10515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427939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" b="1">
                <a:solidFill>
                  <a:srgbClr val="555B66"/>
                </a:solidFill>
                <a:latin typeface="Arial"/>
              </a:rPr>
              <a:t>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4462272"/>
            <a:ext cx="82296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161B26"/>
                </a:solidFill>
                <a:latin typeface="Arial"/>
              </a:rPr>
              <a:t>Exam portal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0184" y="4608576"/>
            <a:ext cx="777240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79592" y="5138928"/>
            <a:ext cx="361188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5276088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161B26"/>
                </a:solidFill>
                <a:latin typeface="Arial"/>
              </a:rPr>
              <a:t>Domains covered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5532120"/>
            <a:ext cx="13258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161B26"/>
                </a:solidFill>
                <a:latin typeface="Arial"/>
              </a:rPr>
              <a:t>AI workloads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5554980"/>
            <a:ext cx="1417320" cy="36576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33488" y="5554980"/>
            <a:ext cx="1275588" cy="365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16752" y="5660136"/>
            <a:ext cx="13258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161B26"/>
                </a:solidFill>
                <a:latin typeface="Arial"/>
              </a:rPr>
              <a:t>Responsible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3488" y="5682996"/>
            <a:ext cx="1417320" cy="36576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33488" y="5682996"/>
            <a:ext cx="1190548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16752" y="5788151"/>
            <a:ext cx="13258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161B26"/>
                </a:solidFill>
                <a:latin typeface="Arial"/>
              </a:rPr>
              <a:t>Azure AI services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33488" y="5811012"/>
            <a:ext cx="1417320" cy="36576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33488" y="5811012"/>
            <a:ext cx="1105509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5916167"/>
            <a:ext cx="13258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161B26"/>
                </a:solidFill>
                <a:latin typeface="Arial"/>
              </a:rPr>
              <a:t>Generative 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33488" y="5939027"/>
            <a:ext cx="1417320" cy="36576"/>
          </a:xfrm>
          <a:prstGeom prst="rect">
            <a:avLst/>
          </a:prstGeom>
          <a:solidFill>
            <a:srgbClr val="D9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33488" y="5939027"/>
            <a:ext cx="102047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11512" y="3273552"/>
            <a:ext cx="1170432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6960" y="3502152"/>
            <a:ext cx="86868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20" b="1">
                <a:solidFill>
                  <a:srgbClr val="161B26"/>
                </a:solidFill>
                <a:latin typeface="Arial"/>
              </a:rPr>
              <a:t>PRACTICE DETAILS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3730752"/>
            <a:ext cx="86868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" b="0">
                <a:solidFill>
                  <a:srgbClr val="555B66"/>
                </a:solidFill>
                <a:latin typeface="Arial"/>
              </a:rPr>
              <a:t>Portal: exams.tertiaryinfotech.com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11512" y="4901184"/>
            <a:ext cx="1170432" cy="859536"/>
          </a:xfrm>
          <a:prstGeom prst="roundRect">
            <a:avLst>
              <a:gd name="adj" fmla="val 5000"/>
            </a:avLst>
          </a:prstGeom>
          <a:solidFill>
            <a:srgbClr val="E8F2FF"/>
          </a:solidFill>
          <a:ln w="12700">
            <a:solidFill>
              <a:srgbClr val="BF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5129784"/>
            <a:ext cx="8686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00" b="1">
                <a:solidFill>
                  <a:srgbClr val="1F6FEB"/>
                </a:solidFill>
                <a:latin typeface="Arial"/>
              </a:rPr>
              <a:t>Learner tip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358384"/>
            <a:ext cx="8686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" b="0">
                <a:solidFill>
                  <a:srgbClr val="555B66"/>
                </a:solidFill>
                <a:latin typeface="Arial"/>
              </a:rPr>
              <a:t>Retake missed items after revision.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BEFORE YOU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Course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Complete TRAQOM survey and final attendance.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Save the Learner Guide and lab notes for post-course review.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Clean up personal Azure resources or confirm shared cleanup with the trainer.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-  </a:t>
            </a:r>
            <a:r>
              <a:rPr sz="1800">
                <a:solidFill>
                  <a:srgbClr val="161B26"/>
                </a:solidFill>
                <a:latin typeface="Arial"/>
              </a:rPr>
              <a:t>Review weak areas using the 7-day study plan in Lab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Microsoft Azure AI Fundamentals (AI-900) - TGS-2023021100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5B66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55B66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