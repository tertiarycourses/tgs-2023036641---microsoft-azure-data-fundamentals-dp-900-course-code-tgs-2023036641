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33" r:id="rId74"/>
    <p:sldId id="329" r:id="rId75"/>
    <p:sldId id="330" r:id="rId76"/>
    <p:sldId id="331" r:id="rId77"/>
    <p:sldId id="332" r:id="rId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rtiarycourses/TGS-2023036641---Microsoft-Azure-Data-Fundamentals-DP-900-Course-Code-TGS-2023036641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s.tertiaryinfotech.com/" TargetMode="Externa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2DE54F46-91B7-E0A2-5191-830D0C476F28}"/>
              </a:ext>
            </a:extLst>
          </p:cNvPr>
          <p:cNvSpPr/>
          <p:nvPr/>
        </p:nvSpPr>
        <p:spPr>
          <a:xfrm>
            <a:off x="0" y="45720"/>
            <a:ext cx="12188952" cy="182880"/>
          </a:xfrm>
          <a:prstGeom prst="rect">
            <a:avLst/>
          </a:prstGeom>
          <a:solidFill>
            <a:srgbClr val="1F6FE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41CF3AB-9AF4-BE5A-BDCF-D3BCCD42E6DB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8948383-CE44-AB01-C309-C8A767F5F3BF}"/>
              </a:ext>
            </a:extLst>
          </p:cNvPr>
          <p:cNvSpPr/>
          <p:nvPr/>
        </p:nvSpPr>
        <p:spPr>
          <a:xfrm>
            <a:off x="868680" y="777240"/>
            <a:ext cx="914400" cy="914400"/>
          </a:xfrm>
          <a:prstGeom prst="ellipse">
            <a:avLst/>
          </a:prstGeom>
          <a:solidFill>
            <a:srgbClr val="0A398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400" b="1">
                <a:solidFill>
                  <a:srgbClr val="FFFFFF"/>
                </a:solidFill>
                <a:latin typeface="Aptos Display" panose="020B0004020202020204" pitchFamily="34" charset="0"/>
              </a:rPr>
              <a:t>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79CFEE2-3589-9FFD-DD86-6FDBE9A4B2DA}"/>
              </a:ext>
            </a:extLst>
          </p:cNvPr>
          <p:cNvSpPr/>
          <p:nvPr/>
        </p:nvSpPr>
        <p:spPr>
          <a:xfrm>
            <a:off x="9921240" y="822960"/>
            <a:ext cx="1389888" cy="841248"/>
          </a:xfrm>
          <a:prstGeom prst="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100" b="1">
                <a:solidFill>
                  <a:srgbClr val="FFFFFF"/>
                </a:solidFill>
                <a:latin typeface="Aptos Display" panose="020B0004020202020204" pitchFamily="34" charset="0"/>
              </a:rPr>
              <a:t>DP-900</a:t>
            </a:r>
          </a:p>
          <a:p>
            <a:pPr algn="ctr"/>
            <a:r>
              <a:rPr lang="en-SG" sz="850" b="1">
                <a:solidFill>
                  <a:srgbClr val="FFFFFF"/>
                </a:solidFill>
                <a:latin typeface="Aptos" panose="020B0004020202020204" pitchFamily="34" charset="0"/>
              </a:rPr>
              <a:t>AZURE DATA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407E57-7E9E-AF14-D674-10E9F091E981}"/>
              </a:ext>
            </a:extLst>
          </p:cNvPr>
          <p:cNvSpPr txBox="1"/>
          <p:nvPr/>
        </p:nvSpPr>
        <p:spPr>
          <a:xfrm>
            <a:off x="960120" y="2176272"/>
            <a:ext cx="402336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900" b="1">
                <a:solidFill>
                  <a:srgbClr val="1F6FEB"/>
                </a:solidFill>
                <a:latin typeface="Aptos" panose="020B0004020202020204" pitchFamily="34" charset="0"/>
              </a:rPr>
              <a:t>COURSE SLIDES  -  WSQ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A0D770-45FA-4D49-5F67-FA9A5B49B0DB}"/>
              </a:ext>
            </a:extLst>
          </p:cNvPr>
          <p:cNvSpPr txBox="1"/>
          <p:nvPr/>
        </p:nvSpPr>
        <p:spPr>
          <a:xfrm>
            <a:off x="960120" y="2761488"/>
            <a:ext cx="978408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3800" b="1">
                <a:solidFill>
                  <a:srgbClr val="111827"/>
                </a:solidFill>
                <a:latin typeface="Aptos Display" panose="020B0004020202020204" pitchFamily="34" charset="0"/>
              </a:rPr>
              <a:t>Microsoft Azure Data Fundamentals</a:t>
            </a:r>
          </a:p>
          <a:p>
            <a:r>
              <a:rPr lang="en-SG" sz="3800" b="1">
                <a:solidFill>
                  <a:srgbClr val="111827"/>
                </a:solidFill>
                <a:latin typeface="Aptos Display" panose="020B0004020202020204" pitchFamily="34" charset="0"/>
              </a:rPr>
              <a:t>(DP-900)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FBC65B-A65C-D139-7091-664BD384B351}"/>
              </a:ext>
            </a:extLst>
          </p:cNvPr>
          <p:cNvSpPr/>
          <p:nvPr/>
        </p:nvSpPr>
        <p:spPr>
          <a:xfrm>
            <a:off x="960120" y="4343400"/>
            <a:ext cx="2194560" cy="64008"/>
          </a:xfrm>
          <a:prstGeom prst="rect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29E5BB-73B2-3DB1-D7EC-B94D5C1CB5F5}"/>
              </a:ext>
            </a:extLst>
          </p:cNvPr>
          <p:cNvSpPr txBox="1"/>
          <p:nvPr/>
        </p:nvSpPr>
        <p:spPr>
          <a:xfrm>
            <a:off x="960120" y="4645152"/>
            <a:ext cx="65836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600">
                <a:solidFill>
                  <a:srgbClr val="525E71"/>
                </a:solidFill>
                <a:latin typeface="Aptos" panose="020B0004020202020204" pitchFamily="34" charset="0"/>
              </a:rPr>
              <a:t>WSQ Course Code: TGS-2023036641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020B73-1268-B22B-F6B1-5C1095B81477}"/>
              </a:ext>
            </a:extLst>
          </p:cNvPr>
          <p:cNvSpPr txBox="1"/>
          <p:nvPr/>
        </p:nvSpPr>
        <p:spPr>
          <a:xfrm>
            <a:off x="960120" y="4956048"/>
            <a:ext cx="658368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350">
                <a:solidFill>
                  <a:srgbClr val="525E71"/>
                </a:solidFill>
                <a:latin typeface="Aptos" panose="020B0004020202020204" pitchFamily="34" charset="0"/>
              </a:rPr>
              <a:t>Trainer: Dr. Alfred Ang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C99FD4-8530-7E14-E838-CB7BE3B2778E}"/>
              </a:ext>
            </a:extLst>
          </p:cNvPr>
          <p:cNvSpPr txBox="1"/>
          <p:nvPr/>
        </p:nvSpPr>
        <p:spPr>
          <a:xfrm>
            <a:off x="960120" y="5230368"/>
            <a:ext cx="804672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50">
                <a:solidFill>
                  <a:srgbClr val="525E71"/>
                </a:solidFill>
                <a:latin typeface="Aptos" panose="020B0004020202020204" pitchFamily="34" charset="0"/>
              </a:rPr>
              <a:t>Conducted by Tertiary Infotech Academy Pte Ltd  -  UEN 201200696W</a:t>
            </a:r>
            <a:endParaRPr lang="en-SG" sz="1350">
              <a:solidFill>
                <a:srgbClr val="525E71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0BC216-D120-807E-8E67-E7495A1F9739}"/>
              </a:ext>
            </a:extLst>
          </p:cNvPr>
          <p:cNvSpPr txBox="1"/>
          <p:nvPr/>
        </p:nvSpPr>
        <p:spPr>
          <a:xfrm>
            <a:off x="960120" y="5870448"/>
            <a:ext cx="411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25E71"/>
                </a:solidFill>
                <a:latin typeface="Aptos" panose="020B0004020202020204" pitchFamily="34" charset="0"/>
              </a:rPr>
              <a:t>Version v1.0  -  8 July 2026</a:t>
            </a:r>
            <a:endParaRPr lang="en-SG" sz="1050">
              <a:solidFill>
                <a:srgbClr val="525E71"/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43B926-9980-E800-B3FC-638B0DA609F9}"/>
              </a:ext>
            </a:extLst>
          </p:cNvPr>
          <p:cNvSpPr txBox="1"/>
          <p:nvPr/>
        </p:nvSpPr>
        <p:spPr>
          <a:xfrm>
            <a:off x="960120" y="6181344"/>
            <a:ext cx="768096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525E71"/>
                </a:solidFill>
                <a:latin typeface="Aptos" panose="020B0004020202020204" pitchFamily="34" charset="0"/>
              </a:rPr>
              <a:t>(c) 2026 Tertiary Infotech Academy Pte Ltd. All rights reserved.  -  www.tertiarycourses.com.sg</a:t>
            </a:r>
            <a:endParaRPr lang="en-SG" sz="850">
              <a:solidFill>
                <a:srgbClr val="525E7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TRAQOM |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AM, PM and Assessment digital attendance for WSQ-funded courses.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trainer displays the SSG TRAQOM digital attendance QR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Scan the QR code with your mobile phone and submit your attendance.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Minimum 75% attendance is required for assessment and funding.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5B6372"/>
                </a:solidFill>
                <a:latin typeface="Arial"/>
              </a:rPr>
              <a:t>YOUR TRAINER |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1640" y="2286000"/>
            <a:ext cx="1508760" cy="150876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251460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General Trainer template - 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828800"/>
            <a:ext cx="6400800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75560"/>
            <a:ext cx="6400800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322320"/>
            <a:ext cx="6400800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69080"/>
            <a:ext cx="6400800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815840"/>
            <a:ext cx="6400800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62600"/>
            <a:ext cx="6400800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1640" y="2286000"/>
            <a:ext cx="1508760" cy="1508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251460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828800"/>
            <a:ext cx="6400800" cy="84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48940"/>
            <a:ext cx="6400800" cy="84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Microsoft Azure certified cloud and data trainer.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69080"/>
            <a:ext cx="6400800" cy="84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WSQ courses on Azure, AI, data fundamentals and automation.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89220"/>
            <a:ext cx="6400800" cy="84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Icebreaker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or role.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data, databases, reporting or Azure.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DP-900 topic you want to understand better by the end of class.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16636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408" y="211226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22199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993392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28800"/>
            <a:ext cx="516636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182880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81928" y="211226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222199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993392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19272"/>
            <a:ext cx="516636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19272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78408" y="360273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712464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83864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319272"/>
            <a:ext cx="516636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3319272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281928" y="360273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3712464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3483864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09744"/>
            <a:ext cx="516636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809744"/>
            <a:ext cx="73152" cy="10515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8408" y="5093208"/>
            <a:ext cx="548640" cy="5486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520293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74336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809744"/>
            <a:ext cx="516636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89320" y="4809744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281928" y="5093208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1928" y="520293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4974336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- 2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Admin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Core data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Relational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895344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SQL and open-source databases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Storage and Cosmos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Analytics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3895344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Capstone review and assessment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9:00 AM-6:00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Lunch and tea breaks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279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Final assessment from 4:00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993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Describe structured, semi-structured and unstructured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1993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Compare transactional and analytical workloads.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26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926080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108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136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072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Identify common data roles and data store options.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2926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2926080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1089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136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072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Explain relational concepts, SQL, normalization and database objects.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69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069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4251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4279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215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Describe Azure SQL and open-source database services on Azure.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9924" y="4069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49924" y="4069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05956" y="4251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5956" y="4279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0044" y="4215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Describe Azure Storage, Azure Cosmos DB and NoSQL patterns.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12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5212080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33272" y="5394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5358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Explain ingestion, processing, analytical data stores, batch and streaming analytics.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9924" y="5212080"/>
            <a:ext cx="5180076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49924" y="5212080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505956" y="53949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05956" y="54223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0044" y="5358384"/>
            <a:ext cx="40096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LO8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Describe Microsoft Fabric, Azure Databricks, real-time analytics and Power BI concepts.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Clear your table and keep only approved materials.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No photos, recording or discussion during assessment.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book: use the slides, Learner Guide and approved notes.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Written Assessment and Practical Performance as instructed.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2452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25653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0624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Submit answers on the LMS when time is 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Written Assessment (WA): 1 hour, open book.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Practical Performance (PP): 1 hour, open book.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Assessment starts on Day 2 at 4:00 PM.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Minimum 75% attendance is required for funding eligibility.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2452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25653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0624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Courseware and assessment: https://lms-tms.tertiaryinfotech.com/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96465" cy="2971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9646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8856" y="2606040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8856" y="2679192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62214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161B26"/>
                </a:solidFill>
                <a:latin typeface="Arial"/>
              </a:rPr>
              <a:t>TRAQOM: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5417" y="3474720"/>
            <a:ext cx="338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96465" cy="2971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9646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57929" y="2606040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57929" y="2679192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3566160"/>
            <a:ext cx="162214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4490" y="3474720"/>
            <a:ext cx="338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96465" cy="2971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9646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47002" y="2606040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47002" y="2679192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2546" y="3566160"/>
            <a:ext cx="162214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161B26"/>
                </a:solidFill>
                <a:latin typeface="Arial"/>
              </a:rPr>
              <a:t>Sit WA then PP,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3563" y="3474720"/>
            <a:ext cx="338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96465" cy="2971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9646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36075" y="2606040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36075" y="2679192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1619" y="3566160"/>
            <a:ext cx="162214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2636" y="3474720"/>
            <a:ext cx="338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96465" cy="29718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9646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125148" y="2606040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25148" y="2679192"/>
            <a:ext cx="713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0692" y="3566160"/>
            <a:ext cx="162214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LAB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GitHub repository: https://github.com/tertiarycourses/TGS-2023036641---Microsoft-Azure-Data-Fundamentals-DP-900-Course-Code-TGS-2023036641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Option A: git clone the repository and open the labs folder.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Option B: use GitHub Code &gt; Download ZIP.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labs in order because later labs reuse earlier concepts.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186537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F6FEB"/>
                </a:solidFill>
                <a:latin typeface="Arial"/>
                <a:hlinkClick r:id="rId2"/>
              </a:rPr>
              <a:t>Open DP-900 lab repository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COURSE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Microsoft Azure Data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008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000" b="1">
                <a:solidFill>
                  <a:srgbClr val="E2E8F0"/>
                </a:solidFill>
                <a:latin typeface="Arial"/>
              </a:rPr>
              <a:t>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DP-900 Exam Skill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Core Data Concepts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Data types, workloads, roles, stores and file formats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Relational Data on Azure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Relational design, SQL, Azure SQL and open-source databases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Non-Relational Data on Azure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Azure Storage, Blob, Files, Tables and Cosmos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Analytics Workloads on Azure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Ingestion, processing, analytical stores, Fabric, Databricks and real-time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Power BI and Exam Readiness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Models, visualizations, service mapping and capstone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LABS 01-10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DP-900 Data Platform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627632" cy="12344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62763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96312"/>
            <a:ext cx="140817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Transactional apps
Lab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6584" y="2724912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2331720"/>
            <a:ext cx="1627632" cy="12344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24328" y="2331720"/>
            <a:ext cx="1627632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34056" y="2496312"/>
            <a:ext cx="140817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Operational stores
Azure SQL | Cosmos DB
Labs 03-06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724912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416" y="2331720"/>
            <a:ext cx="1627632" cy="12344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71416" y="2331720"/>
            <a:ext cx="1627632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144" y="2496312"/>
            <a:ext cx="140817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Storage layer
Blob | Files | Tables
Lab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724912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8504" y="2331720"/>
            <a:ext cx="1627632" cy="12344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18504" y="2331720"/>
            <a:ext cx="1627632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496312"/>
            <a:ext cx="140817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Ingestion + processing
Pipelines | batch | stream
Labs 07-08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724912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5592" y="2331720"/>
            <a:ext cx="1627632" cy="12344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65592" y="2331720"/>
            <a:ext cx="162763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2496312"/>
            <a:ext cx="140817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Analytical store
Lakehouse | warehouse
Lab 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2724912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2331720"/>
            <a:ext cx="1627632" cy="12344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12680" y="2331720"/>
            <a:ext cx="1627632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22408" y="2496312"/>
            <a:ext cx="140817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Power BI reports
Lab 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2519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This diagram follows the labs: classify data and workloads, choose operational and non-relational stores, ingest and process analytics data, then model and visualize it in Power BI.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SERVICE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Lab-to-Service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82880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Labs 01-02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783080"/>
            <a:ext cx="361188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9019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Core concepts, roles, file 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019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783080"/>
            <a:ext cx="416052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1901952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the right workload and storage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87752"/>
            <a:ext cx="182880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5234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Labs 03-04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587752"/>
            <a:ext cx="361188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35808" y="270662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Relational and Azure SQL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066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587752"/>
            <a:ext cx="416052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2706624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Recognize relational service options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392424"/>
            <a:ext cx="182880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557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Labs 05-06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392424"/>
            <a:ext cx="361188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35808" y="351129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Azure Storage and Cosmos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5112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3392424"/>
            <a:ext cx="416052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3511296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Match non-relational data to services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197096"/>
            <a:ext cx="182880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3616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Labs 07-08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4197096"/>
            <a:ext cx="361188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35808" y="431596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Analytics platforms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3159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4197096"/>
            <a:ext cx="416052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88352" y="4315968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Explain ingestion, processing and analytical stores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001768"/>
            <a:ext cx="182880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1663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Labs 09-10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360" y="5001768"/>
            <a:ext cx="361188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35808" y="51206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Power BI and capstone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120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001768"/>
            <a:ext cx="4160520" cy="6583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88352" y="512064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Map scenarios to services and prepare for DP-900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IMPORTED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Reference Visual from Existing Master PPT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90372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1965960"/>
            <a:ext cx="3520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Why this matters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AI-900 master deck includes Azure pipeline visuals. DP-900 learners use the same mental model when reading ingestion, processing, model/reporting and evaluation paths.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it as a visual bridge into analytics services, not as a deep machine learning lesson.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Core Data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96512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Data types, workloads, roles, stores and file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4008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0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EXAM FOCUS | DP-900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- Core Data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37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 representation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Structured, semi-structured and unstructured data require different storage and processing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537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Workload intent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Transactional workloads support operations; analytical workloads support insight and reporting.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23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 roles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DBAs, data engineers and data analysts own different parts of the data lifecycle.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4069080"/>
            <a:ext cx="91440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4823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Storage choices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File, relational, key-value, document and analytical stores solve different business problems.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- Core Data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Core Data Concepts, Data Types, Workloads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Distinguish structured, semi-structured, and unstructured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a data type table, workload table, classification answers, and 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Data Roles, Storage Options, File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data workload roles and responsibilities.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role notes, file format comparison, storage mapping, and a platf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01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1: Core Data Concepts, Data Types,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Core Data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retail company stores sales transactions, customer profiles, product images, web logs, invoices, and analytics reports. You must classify the data and decide which workloads are transactional or analytical.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Distinguish structured, semi-structured, and unstructured data. | Compare transactional and analytical workloads. | Identify common data store use cases.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a data type table, workload table, classification answers, and glossary.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37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Classify Data Types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a table: | Data Example | Type | Reason |
| --- | --- | --- |
| Sales order table | Structured | Fixed rows and columns |
| JSON web event | Semi-structured | Flex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537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Compare Workloads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a table: | Workload | Purpose | Example |
| --- | --- | --- |
| Transactional | Supports day-to-day operations | Online order processing |
| Analytical | Supports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23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Identify Workload Characteristics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For each scenario, choose transactional or analytical: 1. Insert a customer order.
2. Update inventory quantity.
3. Analyze five years of sales data.
4. Create a Power 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4069080"/>
            <a:ext cx="91440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4823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Create a Glossary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Define: Database
Table
File
Data lake
Data warehouse
Transactional workload
Analytical workload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a data type table, workload table, classification answers, and glossary.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What is structured data?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What is semi-structured data?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Why is unstructured data common in modern systems?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How does an analytical workload differ from a transactional workload?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DP-900 frequently tests the difference between data representations and workload 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01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2: Data Roles, Storage Options, File Formats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Core Data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is forming a data team. Management asks which people and services are needed for databases, pipelines, analytics, and reports.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data workload roles and responsibilities. | Compare common file formats. | Match storage options to use cases.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role notes, file format comparison, storage mapping, and a platform diagram.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Identify Data Roles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a table: | Role | Main Responsibility |
| --- | --- |
| Database administrator | Manage database availability, performance, backup, and security |
| Data engineer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Compare File Formats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Format | Common Use |
| --- | --- |
| CSV | Simple tabular exchange |
| JSON | Semi-structured API and event data |
| Parquet | Columnar analytics data |
| XML | Struct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Match Storage Options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Requirement | Possible Store |
| --- | --- |
| Store images and backups | Blob storage |
| Shared file access | Azure Files |
| Key-value style entities | Azure Table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Draw a Simple Data Platform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Use diagrams.net: Source systems -&gt; Ingestion -&gt; Storage -&gt; Processing -&gt; Analytics -&gt; Visualization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Record Service Selection Rules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Write one sentence for when to use relational, non-relational, object storage, and analytical stores.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role notes, file format comparison, storage mapping, and a platform diagram.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What does a data engineer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Why is Parquet common in analytics?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When would Blob storage be appropriate?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Why do analytics platforms separate storage and compute?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Know the roles and responsibilities for data workloads and common storage formats.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- Core Data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DP-900 frequently tests the difference between data representations and workload types.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Know the roles and responsibilities for data workloads and common storage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Relational Data on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96512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Relational design, SQL, Azure SQL and open-source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4008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0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EXAM FOCUS | Relational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- Relational Data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37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Relational model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Tables, rows, columns, keys and relationships structure operational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537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Normalization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Good design reduces duplication and keeps updates consistent.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23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SQL language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SELECT, JOIN, INSERT, UPDATE and DELETE are the core interaction patterns.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4069080"/>
            <a:ext cx="91440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4823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Azure choices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Azure SQL, SQL Managed Instance, SQL Server on VMs and open-source services map to different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- Relational Data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Relational Data, SQL, Normalization, Database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relational data concepts.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a relational diagram, normalization notes, SQL table, object def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SQL and Open-Source Databases on Azure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Describe the Azure SQL family.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comparison tables, scenario answers, managed service benefits,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02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3: Relational Data, SQL, Normalization, Database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Relational Data on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stores customers, orders, products, and order lines in a relational database. You must explain how the data is structured and queried.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Explain relational data concepts. | Identify tables, rows, columns, keys, and relationships. | Understand normalization.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a relational diagram, normalization notes, SQL table, object definitions, and example queries.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Draw a Relational Model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entities: Customers
Orders
OrderItems
Products Add primary keys and foreign keys.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 Normalization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Answer: 1. Why should product data not be repeated on every order line?
2. How do separate tables reduce update errors?
3. What is the tradeoff of normalization?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Identify SQL Statement Types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a table: | SQL Statement | Purpose |
| --- | --- |
| SELECT | Read data |
| INSERT | Add data |
| UPDATE | Modify data |
| DELETE | Remove data |
| CREATE | Create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Database Objects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Define: Table
View
Index
Stored procedure
Schema
Primary key
Foreign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Write Example Queries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SELECT ProductName, Price
FROM Products; SELECT c.CustomerName, o.OrderDate
FROM Customers c
JOIN Orders o ON c.CustomerID = o.CustomerID;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a relational diagram, normalization notes, SQL table, object definitions, and example queries.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What is a primary key?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What is a foreign key?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Why is normalization used?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What does SELECT 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DP-900 expects recognition of relational concepts and common SQL statements, not advanced SQL programming.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02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4: Azure SQL and Open-Source Databases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Relational Data on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wants to migrate existing relational databases to Azure. Some apps use SQL Server, while others use PostgreSQL and MySQL.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Describe the Azure SQL family. | Compare Azure SQL Database, Azure SQL Managed Instance, and SQL Server on Azure VMs. | Identify open-source database services on Azure.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comparison tables, scenario answers, managed service benefits, and security/cost notes.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Compare Azure SQL Options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Service | Best Fit |
| --- | --- |
| Azure SQL Database | Modern cloud app needing managed PaaS database |
| Azure SQL Managed Instance | SQL Server compatibility with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Compare Open-Source Database Services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Document: Azure Database for PostgreSQL
Azure Database for MySQL
Azure Database for MariaDB legacy considerations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Match Migration Scenarios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Choose a service: 1. New cloud-native app using SQL Server engine.
2. Existing SQL Server app needing instance-level compatibility.
3. Legacy app requiring OS-level contr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Managed Service Benefits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Write how managed database services help with: - Patching.
- Backup.
- High availability.
- Scaling.
- Monitoring.
- Security.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Security and Cost Notes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Document: Authentication
Firewall or private access
Backup retention
Performance tier
Scaling 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comparison tables, scenario answers, managed service benefits, and security/cost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When is Azure SQL Database appropriate?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Why choose SQL Server on Azure VMs?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What is a managed database service?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Which Azure services support PostgreSQL and MySQL?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Know the Azure relational database service families and when each option fits.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- Relational Data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DP-900 expects recognition of relational concepts and common SQL statements, not advanced SQL programming.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Know the Azure relational database service families and when each option fits.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Non-Relational Data on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96512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Azure Storage, Blob, Files, Tables and Cosmos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4008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0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EXAM FOCUS | Non-relational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- Non-Relational Data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37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Object storage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Blob Storage keeps unstructured objects such as images, logs and documents.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537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Shared files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Azure Files provides managed SMB/NFS file shares for lift-and-shift workloads.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23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Key-value tables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Azure Table Storage supports simple NoSQL entity lookups at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4069080"/>
            <a:ext cx="91440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4823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Cosmos DB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Cosmos DB provides globally distributed NoSQL APIs for document, key-value, graph and column-family patterns.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- Non-Relational Data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Storage, Blob, Files,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Describe Azure Blob Storage.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storage mappings, concept definitions, and redundancy notes.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Cosmos DB, NoSQL,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non-relational data concepts.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NoSQL notes, Cosmos DB capability notes, API mapping, sample 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03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5: Azure Storage, Blob, Files,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Non-Relational Data on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needs to store product images, shared documents, application logs, and simple key-value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Describe Azure Blob Storage. | Describe Azure Files. | Describe Azure Table Storage.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storage mappings, concept definitions, and redundancy notes.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Map Storage Needs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Requirement | Azure Storage Service |
| --- | --- |
| Product images | Blob Storage |
| Shared file share | Azure Files |
| Simple key-value customer preferences | Tabl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Blob Storage Concepts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Define: Container
Blob
Block blob
Access tier
Lifecycle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Azure Files Concepts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Explain: - SMB and NFS file shares.
- Lift-and-shift file server scenarios.
- Shared access for applications.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Table Storage Concepts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Explain: - Partition key.
- Row key.
- Entity.
- Schemaless design.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Compare Redundancy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Write a short note on locally redundant, zone-redundant, and geo-redundant storage.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storage mappings, concept definitions, and redundancy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When should you use Blob Storage?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When should you use Azure Files?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What is Azure Table Storage?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Why does redundancy matter?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DP-900 expects recognition of Azure Storage services and their common use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03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6: Azure Cosmos DB, NoSQL,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Non-Relational Data on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wants a globally distributed product catalog and user profile store that can handle flexible schemas and low-latency reads.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Explain non-relational data concepts. | Describe Azure Cosmos DB capabilities. | Identify common Cosmos DB APIs.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NoSQL notes, Cosmos DB capability notes, API mapping, sample document, and partition key explanation.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 NoSQL Fit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Write why NoSQL can help with: - Flexible schema.
- High scale.
- Global distribution.
- Low-latency access.
- JSON document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Cosmos DB Capabilities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Document: Global distribution
Low latency
Throughput with request units
Partitioning
Consistency levels
Multiple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Identify Cosmos DB APIs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a table: | API | Common Fit |
| --- | --- |
| NoSQL | JSON document applications |
| MongoDB | MongoDB-compatible apps |
| Cassandra | Wide-column workloads |
| Gr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Design a Product Catalog Document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example JSON: {
  "id": "P1001",
  "category": "Laptop",
  "name": "Training Laptop",
  "price": 1200,
  "tags": ["business", "portable"]
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Partitioning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Explain why a good partition key distributes data and workload evenly.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NoSQL notes, Cosmos DB capability notes, API mapping, sample document, and partition key explanation.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When is Cosmos DB a good fit?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What is a request unit?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Why does partitioning matter?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Which API supports graph workloads?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Know Cosmos DB capabilities, APIs, and common NoSQL use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- Non-Relational Data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DP-900 expects recognition of Azure Storage services and their common use cases.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Know Cosmos DB capabilities, APIs, and common NoSQL use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Analytics Workloads on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96512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Ingestion, processing, analytical stores, Fabric, Databricks and real-time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4008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0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EXAM FOCUS | Analytics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- Analytics Workloads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37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Ingestion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Data enters through batch, stream or event-driven paths.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537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Processing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Transformation prepares data for reporting, machine learning or operational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23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Analytical stores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Warehouses, lakehouses and data lakes organize history for large-scale querying.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4069080"/>
            <a:ext cx="91440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4823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Modern platforms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Microsoft Fabric, Azure Databricks and real-time analytics support different analytics patterns.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- Analytics Workloads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Analytics, Ingestion, Processing, Analytical Data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Describe analytics workload stages.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pipeline diagram, batch/streaming comparison, analytical store 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Microsoft Fabric, Azure Databricks, Real-Time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Describe Microsoft Fabric at a high level.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Fabric notes, Databricks notes, real-time service mapping, and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04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7: Analytics, Ingestion, Processing, Analytical Data Stores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Analytics Workloads on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wants daily sales reports, customer behavior analytics, and near-real-time alerting from web clickstream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Describe analytics workload stages. | Explain data ingestion and processing. | Compare batch and streaming.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pipeline diagram, batch/streaming comparison, analytical store notes, and service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Map an Analytics Pipeline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a flow: Data sources
Ingestion
Raw storage
Transformation
Analytical store
Semantic model
Visualization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Compare Batch and Streaming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Mode | Description | Example |
| --- | --- | --- |
| Batch | Processes data in groups on a schedule | Daily sales summary |
| Streaming | Processes events continuously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Identify Analytical Stores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Document: Data lake
Data warehouse
Lakehouse
Semantic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Choose Azure Services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Need | Possible Service |
| --- | --- |
| Data ingestion and orchestration | Data Factory or Fabric Data Factory |
| Big data processing | Azure Databricks |
| Lakehous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Data Transformation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Explain the difference between raw, cleaned, curated, and aggregated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pipeline diagram, batch/streaming comparison, analytical store notes, and service mapping.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What is data ingestion?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What is the difference between batch and streaming?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What is a data warehouse?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What is a lakehouse?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DP-900 analytics questions test high-level pipeline patterns and service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04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8: Microsoft Fabric, Azure Databricks, Real-Time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Analytics Workloads on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is comparing analytics platforms for reporting, data engineering, machine learning, and real-time dashboards.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Describe Microsoft Fabric at a high level. | Describe Azure Databricks use cases. | Identify real-time analytics services.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Fabric notes, Databricks notes, real-time service mapping, and architecture diagram.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Microsoft Fabric Concepts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Document: OneLake
Lakehouse
Warehouse
Data Factory
Real-Time Intelligence
Power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Azure Databricks Concepts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Explain how Databricks can support: - Apache Spark processing.
- Data engineering notebooks.
- Machine learning workloads.
- Delta Lake patterns.
- Collaborative analytic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Identify Real-Time Analytics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Match: | Requirement | Possible Service |
| --- | --- |
| Ingest event streams | Event Hubs |
| Process streaming data | Stream Analytics |
| Real-time analytics in Fabri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Compare Services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a decision table: | Scenario | Better Fit |
| --- | --- |
| Business reporting workspace | Microsoft Fabric |
| Spark-heavy engineering workloads | Azure Databrick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Draw an Analytics Architecture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Point of sale -&gt; Event stream -&gt; Real-time processing -&gt; Dashboard
Daily exports -&gt; Lakehouse -&gt; Transformations -&gt; Power BI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Fabric notes, Databricks notes, real-time service mapping, and architecture diagram.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What is Microsoft Fabric?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What is Azure Databricks commonly used for?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What is real-time analytics?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Which service can ingest event streams?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Know the high-level purpose of Fabric, Databricks, and Microsoft real-time analytics services.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- Analytics Workloads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DP-900 analytics questions test high-level pipeline patterns and service selection.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Know the high-level purpose of Fabric, Databricks, and Microsoft real-time analytics services.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Power BI and Exam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96512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Models, visualizations, service mapping and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4008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0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EXAM FOCUS | Visualization and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- Power BI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37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Semantic model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Tables, relationships, measures and hierarchies shape how reports answer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537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564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Visual design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Charts should match the question, data grain and audience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23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Service matching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DP-900 rewards knowing what each Azure data service is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4069080"/>
            <a:ext cx="5180076" cy="2057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4069080"/>
            <a:ext cx="91440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4823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4850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4215384"/>
            <a:ext cx="4009644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Study plan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 confidence matrix and mistakes log focus final revision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- Power BI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Power BI, Data Models, Visualizations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Describe Power BI capabilities.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Power BI component notes, data model design, visualization choic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3337560" cy="42519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02996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74320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DP-900 Capstone and Exam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127248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Review all DP-900 skill areas.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511296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should have a service map, architecture diagram, confidence matrix, study pl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05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9: Power BI, Data Models, Visualizations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Power BI and Exam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wants a dashboard for sales, products, regions, and trends. You must explain how Power BI supports data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Describe Power BI capabilities. | Explain data models and semantic models. | Choose appropriate visualizations.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Power BI component notes, data model design, visualization choices, and dashboard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Identify Power BI Components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Document: Power BI Desktop
Power BI service
Dataset or semantic model
Report
Dashboard
Workspace
Data refresh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Design a Simple Data Model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Create tables: Sales
Products
Customers
Dates
Regions Identify relationships and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Choose Visualizations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Question | Visualization |
| --- | --- |
| Sales by month | Line chart |
| Sales by product category | Bar chart |
| Sales by region | Map or filled map |
| Market shar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Add Measures and Filters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Define examples: Total Sales
Order Count
Average Order Value
Year
Region
Product Category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Good Dashboard Design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Write five rules for clear dashboards, such as consistent labels, useful filters, and avoiding clutter.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Power BI component notes, data model design, visualization choices, and dashboard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What is Power BI used for?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What is a semantic model?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Why are relationships important?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Which visualization is suitable for trends over time?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Power BI questions test capabilities, data models, and choosing appropriate visualizations.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05  | 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10: DP-900 Capstone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417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55648"/>
            <a:ext cx="8869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Power BI and Exam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retail company asks for a data platform recommendation that supports transactions, product images, customer profiles, analytics, real-time events, and dashboards.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91440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 all DP-900 skill areas. | Design an end-to-end Azure data platform. | Match data scenarios to Azure services.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749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33672"/>
            <a:ext cx="45720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should have a service map, architecture diagram, confidence matrix, study plan, and cleanup confirmation.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GUIDED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Build a Service Map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| Requirement | Data Type or Workload | Azure Service |
| --- | --- | --- |
| Online orders | Transactional relational | Azure SQL Database |
| Product images | Unstructu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Draw the Architecture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Include: Transactional applications
Operational databases
Storage accounts
Ingestion pipelines
Analytical store
Power BI reports
Real-time event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DP-900 Skill Areas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Rate confidence: | Skill Area | Confidence 1-5 | Study Action |
| --- | --- | --- |
| Core data concepts |  |  |
| Relational data on Azure |  |  |
| Non-relational data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Build an Exam Mistakes Log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For missed questions, record: Topic:
Wrong assumption:
Correct concept:
Service to review: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Clean Up Resources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If you created resources: az group delete --name rg-dp900-lab --yes --no-wait Confirm with your instructor before deleting shared resources.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9924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49924" y="4831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05956" y="5204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5956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0044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Create a 7-Day Study Plan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1. Day 1: Core data concepts and workload types.
2. Day 2: Relational concepts and SQL.
3. Day 3: Azure SQL and open-source databases.
4. Day 4: Azure Storage and Cosmos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10: Validate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132588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Test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should have a service map, architecture diagram, confidence matrix, study plan, and cleanup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1. Which Azure data service is easiest for you to identify?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2. Which service names are most confusing?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725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3. What is the difference between transactional and analytical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>
                <a:solidFill>
                  <a:srgbClr val="161B26"/>
                </a:solidFill>
                <a:latin typeface="Arial"/>
              </a:rPr>
              <a:t>4. What will you review before exam 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Exam focus: </a:t>
            </a:r>
            <a:r>
              <a:rPr sz="1250" b="0">
                <a:solidFill>
                  <a:srgbClr val="5B6372"/>
                </a:solidFill>
                <a:latin typeface="Arial"/>
              </a:rPr>
              <a:t>DP-900 rewards service recognition and concept clarity. Focus on what each data service is for, not deep administration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- Power BI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Power BI questions test capabilities, data models, and choosing appropriate visualizations.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DP-900 rewards service recognition and concept clarity. Focus on what each data service is for, not deep administration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241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Course Summary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6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Core Data Concepts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Data types, workloads, roles, stores and file formats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9924" y="1783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9924" y="1783080"/>
            <a:ext cx="9144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05956" y="2156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956" y="2183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1929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Relational Data on Azure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Relational design, SQL, Azure SQL and open-source databases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29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80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Non-Relational Data on Azure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Azure Storage, Blob, Files, Tables and Cosmos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924" y="3307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9924" y="3307080"/>
            <a:ext cx="9144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05956" y="3680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5956" y="3707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0044" y="3453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Analytics Workloads on Azure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Ingestion, processing, analytical stores, Fabric, Databricks and real-time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295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295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044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189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77384"/>
            <a:ext cx="4009644" cy="106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Power BI and Exam Readiness</a:t>
            </a:r>
          </a:p>
          <a:p>
            <a:pPr algn="l">
              <a:spcAft>
                <a:spcPts val="3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Models, visualizations, service mapping and capstone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DP-900 Exam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each lab's checkpoint questions and Exam Focus note.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Practice service selection: Azure SQL, Storage, Cosmos DB, Fabric, Databricks and Power BI.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the Microsoft DP-900 study guide and Microsoft Learn modules.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Maintain an exam mistakes log for confusing service names and workload types.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2452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25653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0624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Study guide: https://learn.microsoft.com/en-us/credentials/certifications/resources/study-guides/dp-900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Download the courseware from https://lms-tms.tertiaryinfotech.com/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the Learner Guide during revision and the open-book assessment.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Submit assessment answers on the LMS.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required feedback and certification steps before leaving.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45CF6F-97ED-58E2-FC92-A08DCFC8D0B0}"/>
              </a:ext>
            </a:extLst>
          </p:cNvPr>
          <p:cNvSpPr/>
          <p:nvPr/>
        </p:nvSpPr>
        <p:spPr>
          <a:xfrm>
            <a:off x="566928" y="530352"/>
            <a:ext cx="82296" cy="658368"/>
          </a:xfrm>
          <a:prstGeom prst="rect">
            <a:avLst/>
          </a:prstGeom>
          <a:solidFill>
            <a:srgbClr val="1F6FE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767ED-7B7E-8EDF-45B4-22CD88811502}"/>
              </a:ext>
            </a:extLst>
          </p:cNvPr>
          <p:cNvSpPr txBox="1"/>
          <p:nvPr/>
        </p:nvSpPr>
        <p:spPr>
          <a:xfrm>
            <a:off x="822960" y="530352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700" b="1">
                <a:solidFill>
                  <a:srgbClr val="1F6FEB"/>
                </a:solidFill>
                <a:latin typeface="Aptos" panose="020B0004020202020204" pitchFamily="34" charset="0"/>
              </a:rPr>
              <a:t>PRACTICE EXAM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FC066-747A-479A-25E3-FE6175F21951}"/>
              </a:ext>
            </a:extLst>
          </p:cNvPr>
          <p:cNvSpPr txBox="1"/>
          <p:nvPr/>
        </p:nvSpPr>
        <p:spPr>
          <a:xfrm>
            <a:off x="822960" y="960120"/>
            <a:ext cx="86868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>
                <a:solidFill>
                  <a:srgbClr val="111827"/>
                </a:solidFill>
                <a:latin typeface="Aptos Display" panose="020B0004020202020204" pitchFamily="34" charset="0"/>
              </a:rPr>
              <a:t>Take the Online DP-900 Practice Exams</a:t>
            </a:r>
            <a:endParaRPr lang="en-SG" sz="31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8DCB8-6E57-4510-46BC-5E212B6DB103}"/>
              </a:ext>
            </a:extLst>
          </p:cNvPr>
          <p:cNvSpPr/>
          <p:nvPr/>
        </p:nvSpPr>
        <p:spPr>
          <a:xfrm>
            <a:off x="822960" y="1847088"/>
            <a:ext cx="10881360" cy="27432"/>
          </a:xfrm>
          <a:prstGeom prst="rect">
            <a:avLst/>
          </a:prstGeom>
          <a:solidFill>
            <a:srgbClr val="DBE2E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5925D-530C-1350-21FA-1705B454D25B}"/>
              </a:ext>
            </a:extLst>
          </p:cNvPr>
          <p:cNvSpPr txBox="1"/>
          <p:nvPr/>
        </p:nvSpPr>
        <p:spPr>
          <a:xfrm>
            <a:off x="841248" y="2313432"/>
            <a:ext cx="16459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b="1">
                <a:solidFill>
                  <a:srgbClr val="1F6FEB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9B5A5-3F2D-3E75-2B4E-1FB2400AE689}"/>
              </a:ext>
            </a:extLst>
          </p:cNvPr>
          <p:cNvSpPr txBox="1"/>
          <p:nvPr/>
        </p:nvSpPr>
        <p:spPr>
          <a:xfrm>
            <a:off x="1069848" y="2286000"/>
            <a:ext cx="448056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827"/>
                </a:solidFill>
                <a:latin typeface="Aptos" panose="020B0004020202020204" pitchFamily="34" charset="0"/>
              </a:rPr>
              <a:t>Reinforce DP-900 topics with realistic, exam-style questions before assessment day.</a:t>
            </a:r>
            <a:endParaRPr lang="en-SG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832FE-BF45-B63E-D574-A3FF389367D3}"/>
              </a:ext>
            </a:extLst>
          </p:cNvPr>
          <p:cNvSpPr txBox="1"/>
          <p:nvPr/>
        </p:nvSpPr>
        <p:spPr>
          <a:xfrm>
            <a:off x="841248" y="2971800"/>
            <a:ext cx="16459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b="1">
                <a:solidFill>
                  <a:srgbClr val="1F6FEB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EE7CD-32AE-7E0E-99B1-0EC8BC75B345}"/>
              </a:ext>
            </a:extLst>
          </p:cNvPr>
          <p:cNvSpPr txBox="1"/>
          <p:nvPr/>
        </p:nvSpPr>
        <p:spPr>
          <a:xfrm>
            <a:off x="1069848" y="2944368"/>
            <a:ext cx="448056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827"/>
                </a:solidFill>
                <a:latin typeface="Aptos" panose="020B0004020202020204" pitchFamily="34" charset="0"/>
              </a:rPr>
              <a:t>Use practice sets to test core data concepts, relational data, non-relational data, analytics workloads and Power BI.</a:t>
            </a:r>
            <a:endParaRPr lang="en-SG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ECD4F-30ED-C73C-146E-E53D9BA7DD86}"/>
              </a:ext>
            </a:extLst>
          </p:cNvPr>
          <p:cNvSpPr txBox="1"/>
          <p:nvPr/>
        </p:nvSpPr>
        <p:spPr>
          <a:xfrm>
            <a:off x="841248" y="3758184"/>
            <a:ext cx="16459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b="1">
                <a:solidFill>
                  <a:srgbClr val="1F6FEB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4B554-9372-FE25-31FD-C655B6709F3F}"/>
              </a:ext>
            </a:extLst>
          </p:cNvPr>
          <p:cNvSpPr txBox="1"/>
          <p:nvPr/>
        </p:nvSpPr>
        <p:spPr>
          <a:xfrm>
            <a:off x="1069848" y="3730752"/>
            <a:ext cx="448056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827"/>
                </a:solidFill>
                <a:latin typeface="Aptos" panose="020B0004020202020204" pitchFamily="34" charset="0"/>
              </a:rPr>
              <a:t>Review mode helps you check the correct answer and revisit the concept after each question.</a:t>
            </a:r>
            <a:endParaRPr lang="en-SG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49083-CA7A-F3E3-2578-9EF3647B7B2A}"/>
              </a:ext>
            </a:extLst>
          </p:cNvPr>
          <p:cNvSpPr txBox="1"/>
          <p:nvPr/>
        </p:nvSpPr>
        <p:spPr>
          <a:xfrm>
            <a:off x="841248" y="4507992"/>
            <a:ext cx="16459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b="1">
                <a:solidFill>
                  <a:srgbClr val="1F6FEB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76CD8-FF18-03A3-605C-169B3FC6ECA6}"/>
              </a:ext>
            </a:extLst>
          </p:cNvPr>
          <p:cNvSpPr txBox="1"/>
          <p:nvPr/>
        </p:nvSpPr>
        <p:spPr>
          <a:xfrm>
            <a:off x="1069848" y="4480560"/>
            <a:ext cx="448056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827"/>
                </a:solidFill>
                <a:latin typeface="Aptos" panose="020B0004020202020204" pitchFamily="34" charset="0"/>
              </a:rPr>
              <a:t>Complete the practice questions from the Tertiary Exams portal, then bring difficult items to the review session.</a:t>
            </a:r>
            <a:endParaRPr lang="en-SG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94D072-854C-078B-15AC-5E40D54E31C3}"/>
              </a:ext>
            </a:extLst>
          </p:cNvPr>
          <p:cNvSpPr txBox="1"/>
          <p:nvPr/>
        </p:nvSpPr>
        <p:spPr>
          <a:xfrm>
            <a:off x="841248" y="5468112"/>
            <a:ext cx="493776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700" b="1">
                <a:solidFill>
                  <a:srgbClr val="111827"/>
                </a:solidFill>
                <a:latin typeface="Aptos" panose="020B0004020202020204" pitchFamily="34" charset="0"/>
              </a:rPr>
              <a:t>Access and practise at: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94C18D-FB56-88E9-EE36-FCC0AB5926E2}"/>
              </a:ext>
            </a:extLst>
          </p:cNvPr>
          <p:cNvSpPr txBox="1"/>
          <p:nvPr/>
        </p:nvSpPr>
        <p:spPr>
          <a:xfrm>
            <a:off x="841248" y="5779008"/>
            <a:ext cx="53035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2100" b="1">
                <a:solidFill>
                  <a:srgbClr val="1F6FEB"/>
                </a:solidFill>
                <a:latin typeface="Aptos" panose="020B0004020202020204" pitchFamily="34" charset="0"/>
                <a:hlinkClick r:id="rId2"/>
              </a:rPr>
              <a:t>exams.tertiaryinfotech.com</a:t>
            </a:r>
            <a:endParaRPr lang="en-SG" sz="2100" b="1">
              <a:solidFill>
                <a:srgbClr val="1F6FEB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D78842-11FD-0428-5284-A0AB1A64CCD8}"/>
              </a:ext>
            </a:extLst>
          </p:cNvPr>
          <p:cNvSpPr/>
          <p:nvPr/>
        </p:nvSpPr>
        <p:spPr>
          <a:xfrm>
            <a:off x="5532120" y="2176272"/>
            <a:ext cx="5806441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05A9E6-CE71-8C15-5150-BFC358B7D8BE}"/>
              </a:ext>
            </a:extLst>
          </p:cNvPr>
          <p:cNvSpPr/>
          <p:nvPr/>
        </p:nvSpPr>
        <p:spPr>
          <a:xfrm>
            <a:off x="5705856" y="2340864"/>
            <a:ext cx="219456" cy="219456"/>
          </a:xfrm>
          <a:prstGeom prst="ellipse">
            <a:avLst/>
          </a:prstGeom>
          <a:solidFill>
            <a:srgbClr val="0A398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300" b="1">
                <a:solidFill>
                  <a:srgbClr val="FFFFFF"/>
                </a:solidFill>
                <a:latin typeface="Aptos Display" panose="020B0004020202020204" pitchFamily="34" charset="0"/>
              </a:rPr>
              <a:t>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232703-AB31-0983-A2C3-D34564ECDDB3}"/>
              </a:ext>
            </a:extLst>
          </p:cNvPr>
          <p:cNvSpPr txBox="1"/>
          <p:nvPr/>
        </p:nvSpPr>
        <p:spPr>
          <a:xfrm>
            <a:off x="5943600" y="2368296"/>
            <a:ext cx="1371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680" b="1">
                <a:solidFill>
                  <a:srgbClr val="111827"/>
                </a:solidFill>
                <a:latin typeface="Aptos" panose="020B0004020202020204" pitchFamily="34" charset="0"/>
              </a:rPr>
              <a:t>Tertiary Exams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0367B6-2A05-627E-C87B-94C48FC0A8DE}"/>
              </a:ext>
            </a:extLst>
          </p:cNvPr>
          <p:cNvSpPr txBox="1"/>
          <p:nvPr/>
        </p:nvSpPr>
        <p:spPr>
          <a:xfrm>
            <a:off x="7726680" y="2368296"/>
            <a:ext cx="731520" cy="800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20">
                <a:solidFill>
                  <a:srgbClr val="111827"/>
                </a:solidFill>
                <a:latin typeface="Aptos" panose="020B0004020202020204" pitchFamily="34" charset="0"/>
              </a:rPr>
              <a:t>Practice Exam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EB0952-8B98-5B39-60A0-998444E0BEC1}"/>
              </a:ext>
            </a:extLst>
          </p:cNvPr>
          <p:cNvSpPr txBox="1"/>
          <p:nvPr/>
        </p:nvSpPr>
        <p:spPr>
          <a:xfrm>
            <a:off x="8686800" y="2368296"/>
            <a:ext cx="502920" cy="800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20">
                <a:solidFill>
                  <a:srgbClr val="111827"/>
                </a:solidFill>
                <a:latin typeface="Aptos" panose="020B0004020202020204" pitchFamily="34" charset="0"/>
              </a:rPr>
              <a:t>About 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51C747-8A4C-4923-B08A-F670A0E0D3B4}"/>
              </a:ext>
            </a:extLst>
          </p:cNvPr>
          <p:cNvSpPr txBox="1"/>
          <p:nvPr/>
        </p:nvSpPr>
        <p:spPr>
          <a:xfrm>
            <a:off x="9418320" y="2368296"/>
            <a:ext cx="384048" cy="800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20">
                <a:solidFill>
                  <a:srgbClr val="111827"/>
                </a:solidFill>
                <a:latin typeface="Aptos" panose="020B0004020202020204" pitchFamily="34" charset="0"/>
              </a:rPr>
              <a:t>Sign 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34AD76-7476-9814-5B38-1A8E4FC557C4}"/>
              </a:ext>
            </a:extLst>
          </p:cNvPr>
          <p:cNvSpPr/>
          <p:nvPr/>
        </p:nvSpPr>
        <p:spPr>
          <a:xfrm>
            <a:off x="10378440" y="2286000"/>
            <a:ext cx="548640" cy="228600"/>
          </a:xfrm>
          <a:prstGeom prst="rect">
            <a:avLst/>
          </a:prstGeom>
          <a:solidFill>
            <a:srgbClr val="1F6FE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3B1CFB-7709-2F18-20FA-51E05E7EC2F3}"/>
              </a:ext>
            </a:extLst>
          </p:cNvPr>
          <p:cNvSpPr txBox="1"/>
          <p:nvPr/>
        </p:nvSpPr>
        <p:spPr>
          <a:xfrm>
            <a:off x="10451592" y="2345436"/>
            <a:ext cx="411480" cy="738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480" b="1">
                <a:solidFill>
                  <a:srgbClr val="FFFFFF"/>
                </a:solidFill>
                <a:latin typeface="Aptos" panose="020B0004020202020204" pitchFamily="34" charset="0"/>
              </a:rPr>
              <a:t>Get started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2AF8F5-A807-BE86-2293-5874723C8996}"/>
              </a:ext>
            </a:extLst>
          </p:cNvPr>
          <p:cNvSpPr txBox="1"/>
          <p:nvPr/>
        </p:nvSpPr>
        <p:spPr>
          <a:xfrm>
            <a:off x="5833872" y="3017520"/>
            <a:ext cx="1325880" cy="831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40" b="1">
                <a:solidFill>
                  <a:srgbClr val="1F6FEB"/>
                </a:solidFill>
                <a:latin typeface="Aptos" panose="020B0004020202020204" pitchFamily="34" charset="0"/>
              </a:rPr>
              <a:t>All exams / Microsoft / DP-900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AD760D-7F5D-EC91-A73D-3F44095F2ACA}"/>
              </a:ext>
            </a:extLst>
          </p:cNvPr>
          <p:cNvSpPr/>
          <p:nvPr/>
        </p:nvSpPr>
        <p:spPr>
          <a:xfrm>
            <a:off x="5843016" y="3182112"/>
            <a:ext cx="384048" cy="182880"/>
          </a:xfrm>
          <a:prstGeom prst="rect">
            <a:avLst/>
          </a:prstGeom>
          <a:solidFill>
            <a:srgbClr val="EBF5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AADBC2-034E-91D6-7949-66CF50EEDE20}"/>
              </a:ext>
            </a:extLst>
          </p:cNvPr>
          <p:cNvSpPr txBox="1"/>
          <p:nvPr/>
        </p:nvSpPr>
        <p:spPr>
          <a:xfrm>
            <a:off x="5907024" y="3227832"/>
            <a:ext cx="228600" cy="723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470" b="1">
                <a:solidFill>
                  <a:srgbClr val="1F6FEB"/>
                </a:solidFill>
                <a:latin typeface="Aptos" panose="020B0004020202020204" pitchFamily="34" charset="0"/>
              </a:rPr>
              <a:t>DP-900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B2841A-24BA-2A02-34CF-3F6D92C96B0C}"/>
              </a:ext>
            </a:extLst>
          </p:cNvPr>
          <p:cNvSpPr txBox="1"/>
          <p:nvPr/>
        </p:nvSpPr>
        <p:spPr>
          <a:xfrm>
            <a:off x="5833872" y="3493008"/>
            <a:ext cx="3611880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140" b="1">
                <a:solidFill>
                  <a:srgbClr val="111827"/>
                </a:solidFill>
                <a:latin typeface="Aptos Display" panose="020B0004020202020204" pitchFamily="34" charset="0"/>
              </a:rPr>
              <a:t>Microsoft Azure Data Fundamentals (DP-900) Practice</a:t>
            </a:r>
          </a:p>
          <a:p>
            <a:r>
              <a:rPr lang="en-SG" sz="1140" b="1">
                <a:solidFill>
                  <a:srgbClr val="111827"/>
                </a:solidFill>
                <a:latin typeface="Aptos Display" panose="020B0004020202020204" pitchFamily="34" charset="0"/>
              </a:rPr>
              <a:t>Exams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FA459F-1BA4-2995-8482-9D826A4701E4}"/>
              </a:ext>
            </a:extLst>
          </p:cNvPr>
          <p:cNvSpPr txBox="1"/>
          <p:nvPr/>
        </p:nvSpPr>
        <p:spPr>
          <a:xfrm>
            <a:off x="5833872" y="3840480"/>
            <a:ext cx="3611880" cy="754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90">
                <a:solidFill>
                  <a:srgbClr val="374151"/>
                </a:solidFill>
                <a:latin typeface="Aptos" panose="020B0004020202020204" pitchFamily="34" charset="0"/>
              </a:rPr>
              <a:t>Practice questions for core data concepts, relational data, non-relational data, analytics and Power BI review.</a:t>
            </a:r>
            <a:endParaRPr lang="en-SG" sz="49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D310C38-2DC8-DCD5-A49D-050D36B60E63}"/>
              </a:ext>
            </a:extLst>
          </p:cNvPr>
          <p:cNvSpPr/>
          <p:nvPr/>
        </p:nvSpPr>
        <p:spPr>
          <a:xfrm>
            <a:off x="9646920" y="3383280"/>
            <a:ext cx="1143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6F3F50-C525-9376-CE40-8EA338092753}"/>
              </a:ext>
            </a:extLst>
          </p:cNvPr>
          <p:cNvSpPr txBox="1"/>
          <p:nvPr/>
        </p:nvSpPr>
        <p:spPr>
          <a:xfrm>
            <a:off x="9893808" y="3584448"/>
            <a:ext cx="640080" cy="800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520" b="1">
                <a:solidFill>
                  <a:srgbClr val="374151"/>
                </a:solidFill>
                <a:latin typeface="Aptos" panose="020B0004020202020204" pitchFamily="34" charset="0"/>
              </a:rPr>
              <a:t>PRACTICE DETAIL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1940DA-F9A4-F5B7-73DF-9518F81BF0B4}"/>
              </a:ext>
            </a:extLst>
          </p:cNvPr>
          <p:cNvSpPr txBox="1"/>
          <p:nvPr/>
        </p:nvSpPr>
        <p:spPr>
          <a:xfrm>
            <a:off x="9765792" y="3858768"/>
            <a:ext cx="868680" cy="661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430" b="1">
                <a:solidFill>
                  <a:srgbClr val="1F6FEB"/>
                </a:solidFill>
                <a:latin typeface="Aptos" panose="020B0004020202020204" pitchFamily="34" charset="0"/>
              </a:rPr>
              <a:t>portal.tertiaryinfotech.com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B07466-AA66-E7E2-13D9-AD0E97846717}"/>
              </a:ext>
            </a:extLst>
          </p:cNvPr>
          <p:cNvSpPr/>
          <p:nvPr/>
        </p:nvSpPr>
        <p:spPr>
          <a:xfrm>
            <a:off x="5833872" y="4261104"/>
            <a:ext cx="10332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D98BD6-E525-8921-6857-57050272271B}"/>
              </a:ext>
            </a:extLst>
          </p:cNvPr>
          <p:cNvSpPr txBox="1"/>
          <p:nvPr/>
        </p:nvSpPr>
        <p:spPr>
          <a:xfrm>
            <a:off x="5943600" y="4389120"/>
            <a:ext cx="384048" cy="769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00" b="1">
                <a:solidFill>
                  <a:srgbClr val="374151"/>
                </a:solidFill>
                <a:latin typeface="Aptos" panose="020B0004020202020204" pitchFamily="34" charset="0"/>
              </a:rPr>
              <a:t>MODE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6FD9D7-776C-F418-9A28-D4F9DF3AE584}"/>
              </a:ext>
            </a:extLst>
          </p:cNvPr>
          <p:cNvSpPr txBox="1"/>
          <p:nvPr/>
        </p:nvSpPr>
        <p:spPr>
          <a:xfrm>
            <a:off x="5943600" y="4599432"/>
            <a:ext cx="566928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600" b="1">
                <a:solidFill>
                  <a:srgbClr val="111827"/>
                </a:solidFill>
                <a:latin typeface="Aptos" panose="020B0004020202020204" pitchFamily="34" charset="0"/>
              </a:rPr>
              <a:t>Practice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3A32C4-32C3-01F2-CE6F-77C9F82FE64B}"/>
              </a:ext>
            </a:extLst>
          </p:cNvPr>
          <p:cNvSpPr/>
          <p:nvPr/>
        </p:nvSpPr>
        <p:spPr>
          <a:xfrm>
            <a:off x="5925312" y="4709160"/>
            <a:ext cx="777240" cy="27432"/>
          </a:xfrm>
          <a:prstGeom prst="rect">
            <a:avLst/>
          </a:prstGeom>
          <a:solidFill>
            <a:srgbClr val="1F6FE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C71081-4FD1-BE08-0A75-8E73C339BD95}"/>
              </a:ext>
            </a:extLst>
          </p:cNvPr>
          <p:cNvSpPr/>
          <p:nvPr/>
        </p:nvSpPr>
        <p:spPr>
          <a:xfrm>
            <a:off x="6995160" y="4261104"/>
            <a:ext cx="10332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01F2EE-476D-2A4A-954B-65F978F5FD91}"/>
              </a:ext>
            </a:extLst>
          </p:cNvPr>
          <p:cNvSpPr txBox="1"/>
          <p:nvPr/>
        </p:nvSpPr>
        <p:spPr>
          <a:xfrm>
            <a:off x="7104888" y="4389120"/>
            <a:ext cx="411480" cy="769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00" b="1">
                <a:solidFill>
                  <a:srgbClr val="374151"/>
                </a:solidFill>
                <a:latin typeface="Aptos" panose="020B0004020202020204" pitchFamily="34" charset="0"/>
              </a:rPr>
              <a:t>FOCUS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E3642F-8BAC-F16F-6CE7-CB48BC1CEA53}"/>
              </a:ext>
            </a:extLst>
          </p:cNvPr>
          <p:cNvSpPr txBox="1"/>
          <p:nvPr/>
        </p:nvSpPr>
        <p:spPr>
          <a:xfrm>
            <a:off x="7104888" y="4599432"/>
            <a:ext cx="4572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600" b="1">
                <a:solidFill>
                  <a:srgbClr val="111827"/>
                </a:solidFill>
                <a:latin typeface="Aptos" panose="020B0004020202020204" pitchFamily="34" charset="0"/>
              </a:rPr>
              <a:t>DP-900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CFF59C-32E9-8357-0EC7-41F3F7CBDC16}"/>
              </a:ext>
            </a:extLst>
          </p:cNvPr>
          <p:cNvSpPr/>
          <p:nvPr/>
        </p:nvSpPr>
        <p:spPr>
          <a:xfrm>
            <a:off x="7086600" y="4709160"/>
            <a:ext cx="777240" cy="27432"/>
          </a:xfrm>
          <a:prstGeom prst="rect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588E00-B9BF-9BD9-5729-C96170B1336E}"/>
              </a:ext>
            </a:extLst>
          </p:cNvPr>
          <p:cNvSpPr/>
          <p:nvPr/>
        </p:nvSpPr>
        <p:spPr>
          <a:xfrm>
            <a:off x="8156448" y="4261104"/>
            <a:ext cx="10332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95BDF7-E228-63E1-5F60-703BC222A4B3}"/>
              </a:ext>
            </a:extLst>
          </p:cNvPr>
          <p:cNvSpPr txBox="1"/>
          <p:nvPr/>
        </p:nvSpPr>
        <p:spPr>
          <a:xfrm>
            <a:off x="8266176" y="4389120"/>
            <a:ext cx="438912" cy="769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00" b="1">
                <a:solidFill>
                  <a:srgbClr val="374151"/>
                </a:solidFill>
                <a:latin typeface="Aptos" panose="020B0004020202020204" pitchFamily="34" charset="0"/>
              </a:rPr>
              <a:t>ACCESS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7AC8F6-1D7A-C0B7-EA31-E2A311B585C2}"/>
              </a:ext>
            </a:extLst>
          </p:cNvPr>
          <p:cNvSpPr txBox="1"/>
          <p:nvPr/>
        </p:nvSpPr>
        <p:spPr>
          <a:xfrm>
            <a:off x="8266176" y="4599432"/>
            <a:ext cx="676656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600" b="1">
                <a:solidFill>
                  <a:srgbClr val="111827"/>
                </a:solidFill>
                <a:latin typeface="Aptos" panose="020B0004020202020204" pitchFamily="34" charset="0"/>
              </a:rPr>
              <a:t>Exam portal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DEF485-348F-B747-21D6-92E7CADE0E0E}"/>
              </a:ext>
            </a:extLst>
          </p:cNvPr>
          <p:cNvSpPr/>
          <p:nvPr/>
        </p:nvSpPr>
        <p:spPr>
          <a:xfrm>
            <a:off x="8247888" y="4709160"/>
            <a:ext cx="777240" cy="27432"/>
          </a:xfrm>
          <a:prstGeom prst="rect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660EB6-B34E-F67D-C2E0-2108DF2AC20B}"/>
              </a:ext>
            </a:extLst>
          </p:cNvPr>
          <p:cNvSpPr/>
          <p:nvPr/>
        </p:nvSpPr>
        <p:spPr>
          <a:xfrm>
            <a:off x="5833872" y="5230368"/>
            <a:ext cx="37033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07CD82-E92D-6590-2AF9-99882CC51D77}"/>
              </a:ext>
            </a:extLst>
          </p:cNvPr>
          <p:cNvSpPr txBox="1"/>
          <p:nvPr/>
        </p:nvSpPr>
        <p:spPr>
          <a:xfrm>
            <a:off x="5961888" y="5376672"/>
            <a:ext cx="1097280" cy="892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580" b="1">
                <a:solidFill>
                  <a:srgbClr val="111827"/>
                </a:solidFill>
                <a:latin typeface="Aptos" panose="020B0004020202020204" pitchFamily="34" charset="0"/>
              </a:rPr>
              <a:t>Domains covered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42F0EE-83BE-5D87-FC8D-F3B61381E6F0}"/>
              </a:ext>
            </a:extLst>
          </p:cNvPr>
          <p:cNvSpPr txBox="1"/>
          <p:nvPr/>
        </p:nvSpPr>
        <p:spPr>
          <a:xfrm>
            <a:off x="5961888" y="5650992"/>
            <a:ext cx="960120" cy="723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470">
                <a:solidFill>
                  <a:srgbClr val="374151"/>
                </a:solidFill>
                <a:latin typeface="Aptos" panose="020B0004020202020204" pitchFamily="34" charset="0"/>
              </a:rPr>
              <a:t>Core data concepts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25D888-CBA4-3103-508D-1A140ACA2E15}"/>
              </a:ext>
            </a:extLst>
          </p:cNvPr>
          <p:cNvSpPr txBox="1"/>
          <p:nvPr/>
        </p:nvSpPr>
        <p:spPr>
          <a:xfrm>
            <a:off x="5961888" y="5797296"/>
            <a:ext cx="960120" cy="723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470">
                <a:solidFill>
                  <a:srgbClr val="374151"/>
                </a:solidFill>
                <a:latin typeface="Aptos" panose="020B0004020202020204" pitchFamily="34" charset="0"/>
              </a:rPr>
              <a:t>Relational 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1BB8DA-1CA4-1D62-8DE0-48C260CCF06C}"/>
              </a:ext>
            </a:extLst>
          </p:cNvPr>
          <p:cNvSpPr txBox="1"/>
          <p:nvPr/>
        </p:nvSpPr>
        <p:spPr>
          <a:xfrm>
            <a:off x="5961888" y="5943600"/>
            <a:ext cx="960120" cy="723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470">
                <a:solidFill>
                  <a:srgbClr val="374151"/>
                </a:solidFill>
                <a:latin typeface="Aptos" panose="020B0004020202020204" pitchFamily="34" charset="0"/>
              </a:rPr>
              <a:t>Analytics workloads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CCE081-AE14-5CAC-ECDD-DA2231CD5ACB}"/>
              </a:ext>
            </a:extLst>
          </p:cNvPr>
          <p:cNvSpPr/>
          <p:nvPr/>
        </p:nvSpPr>
        <p:spPr>
          <a:xfrm>
            <a:off x="7333488" y="5650992"/>
            <a:ext cx="1325880" cy="27432"/>
          </a:xfrm>
          <a:prstGeom prst="rect">
            <a:avLst/>
          </a:prstGeom>
          <a:solidFill>
            <a:srgbClr val="1F6FE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A022A3-875D-2EC3-C2D8-885E326CCFA0}"/>
              </a:ext>
            </a:extLst>
          </p:cNvPr>
          <p:cNvSpPr/>
          <p:nvPr/>
        </p:nvSpPr>
        <p:spPr>
          <a:xfrm>
            <a:off x="7333488" y="5797296"/>
            <a:ext cx="1234440" cy="27432"/>
          </a:xfrm>
          <a:prstGeom prst="rect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2472A3-8938-E8D2-9AC2-0787387847AC}"/>
              </a:ext>
            </a:extLst>
          </p:cNvPr>
          <p:cNvSpPr/>
          <p:nvPr/>
        </p:nvSpPr>
        <p:spPr>
          <a:xfrm>
            <a:off x="7333488" y="5943600"/>
            <a:ext cx="1143000" cy="27432"/>
          </a:xfrm>
          <a:prstGeom prst="rect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133E34-B312-05C4-B411-3F5D33F074F2}"/>
              </a:ext>
            </a:extLst>
          </p:cNvPr>
          <p:cNvSpPr/>
          <p:nvPr/>
        </p:nvSpPr>
        <p:spPr>
          <a:xfrm>
            <a:off x="8622792" y="5650992"/>
            <a:ext cx="164593" cy="27432"/>
          </a:xfrm>
          <a:prstGeom prst="rect">
            <a:avLst/>
          </a:prstGeom>
          <a:solidFill>
            <a:srgbClr val="DBE2E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2C067D-38F6-DA2C-D03A-4F4D1E29C9AD}"/>
              </a:ext>
            </a:extLst>
          </p:cNvPr>
          <p:cNvSpPr/>
          <p:nvPr/>
        </p:nvSpPr>
        <p:spPr>
          <a:xfrm>
            <a:off x="8531352" y="5797296"/>
            <a:ext cx="256032" cy="27432"/>
          </a:xfrm>
          <a:prstGeom prst="rect">
            <a:avLst/>
          </a:prstGeom>
          <a:solidFill>
            <a:srgbClr val="DBE2E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E90D005-7D74-1FBD-FB44-48C9ACECA26A}"/>
              </a:ext>
            </a:extLst>
          </p:cNvPr>
          <p:cNvSpPr/>
          <p:nvPr/>
        </p:nvSpPr>
        <p:spPr>
          <a:xfrm>
            <a:off x="8439912" y="5943600"/>
            <a:ext cx="347472" cy="27432"/>
          </a:xfrm>
          <a:prstGeom prst="rect">
            <a:avLst/>
          </a:prstGeom>
          <a:solidFill>
            <a:srgbClr val="DBE2E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030584E-EC84-DAD4-BBDD-E887A80793BE}"/>
              </a:ext>
            </a:extLst>
          </p:cNvPr>
          <p:cNvSpPr/>
          <p:nvPr/>
        </p:nvSpPr>
        <p:spPr>
          <a:xfrm>
            <a:off x="9646920" y="5010912"/>
            <a:ext cx="1143000" cy="841248"/>
          </a:xfrm>
          <a:prstGeom prst="roundRect">
            <a:avLst/>
          </a:prstGeom>
          <a:solidFill>
            <a:srgbClr val="E2F0FF"/>
          </a:solidFill>
          <a:ln w="12700">
            <a:solidFill>
              <a:srgbClr val="C6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3B5142-B383-85BC-7014-52F53F770A67}"/>
              </a:ext>
            </a:extLst>
          </p:cNvPr>
          <p:cNvSpPr txBox="1"/>
          <p:nvPr/>
        </p:nvSpPr>
        <p:spPr>
          <a:xfrm>
            <a:off x="9930384" y="5257800"/>
            <a:ext cx="566928" cy="846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550" b="1">
                <a:solidFill>
                  <a:srgbClr val="1F6FEB"/>
                </a:solidFill>
                <a:latin typeface="Aptos" panose="020B0004020202020204" pitchFamily="34" charset="0"/>
              </a:rPr>
              <a:t>Learner tip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E9A738-6BA7-FA38-2EDE-B8C2A8E84086}"/>
              </a:ext>
            </a:extLst>
          </p:cNvPr>
          <p:cNvSpPr txBox="1"/>
          <p:nvPr/>
        </p:nvSpPr>
        <p:spPr>
          <a:xfrm>
            <a:off x="9838944" y="5532120"/>
            <a:ext cx="749808" cy="1477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80">
                <a:solidFill>
                  <a:srgbClr val="374151"/>
                </a:solidFill>
                <a:latin typeface="Aptos" panose="020B0004020202020204" pitchFamily="34" charset="0"/>
              </a:rPr>
              <a:t>Retake missed items after</a:t>
            </a:r>
          </a:p>
          <a:p>
            <a:pPr algn="ctr"/>
            <a:r>
              <a:rPr lang="en-US" sz="480">
                <a:solidFill>
                  <a:srgbClr val="374151"/>
                </a:solidFill>
                <a:latin typeface="Aptos" panose="020B0004020202020204" pitchFamily="34" charset="0"/>
              </a:rPr>
              <a:t>revision.</a:t>
            </a:r>
            <a:endParaRPr lang="en-SG" sz="48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4B3190-C02F-F378-ECFC-BC09EA0EFCAF}"/>
              </a:ext>
            </a:extLst>
          </p:cNvPr>
          <p:cNvSpPr txBox="1"/>
          <p:nvPr/>
        </p:nvSpPr>
        <p:spPr>
          <a:xfrm>
            <a:off x="621792" y="6473952"/>
            <a:ext cx="475488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750">
                <a:solidFill>
                  <a:srgbClr val="525E71"/>
                </a:solidFill>
                <a:latin typeface="Aptos" panose="020B0004020202020204" pitchFamily="34" charset="0"/>
              </a:rPr>
              <a:t>Microsoft Azure Data Fundamentals (DP-900)  -  TGS-2023036641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62756E-BD13-B980-AC7E-A9E89D433C1B}"/>
              </a:ext>
            </a:extLst>
          </p:cNvPr>
          <p:cNvSpPr txBox="1"/>
          <p:nvPr/>
        </p:nvSpPr>
        <p:spPr>
          <a:xfrm>
            <a:off x="4937760" y="6473952"/>
            <a:ext cx="27432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50">
                <a:solidFill>
                  <a:srgbClr val="525E71"/>
                </a:solidFill>
                <a:latin typeface="Aptos" panose="020B0004020202020204" pitchFamily="34" charset="0"/>
              </a:rPr>
              <a:t>(c) 2026 Tertiary Infotech Academy Pte Ltd</a:t>
            </a:r>
            <a:endParaRPr lang="en-SG" sz="750">
              <a:solidFill>
                <a:srgbClr val="525E71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2DE350-9D2B-BB72-EE79-02984DA1D866}"/>
              </a:ext>
            </a:extLst>
          </p:cNvPr>
          <p:cNvSpPr txBox="1"/>
          <p:nvPr/>
        </p:nvSpPr>
        <p:spPr>
          <a:xfrm>
            <a:off x="11567160" y="6473952"/>
            <a:ext cx="320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SG" sz="750">
                <a:solidFill>
                  <a:srgbClr val="525E71"/>
                </a:solidFill>
                <a:latin typeface="Aptos" panose="020B0004020202020204" pitchFamily="34" charset="0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23298332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END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Written Assessment (WA): 1 hour.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Practical Performance (PP): 1 hour.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book: slides, Learner Guide and approved materials only.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Assessment digital attendance before starting.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2452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25653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0624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Submit answers on https://lms-tms.tertiaryinfotech.com/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9933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4048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96312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90088"/>
            <a:ext cx="15361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TRAQOM digital
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3017520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240280"/>
            <a:ext cx="19933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81528" y="24048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81528" y="2496312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990088"/>
            <a:ext cx="15361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3017520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240280"/>
            <a:ext cx="19933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76088" y="240487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2496312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990088"/>
            <a:ext cx="15361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Sit WA then
Practical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3017520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240280"/>
            <a:ext cx="19933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70648" y="240487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0648" y="2496312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990088"/>
            <a:ext cx="15361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Submit answers on
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017520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2240280"/>
            <a:ext cx="19933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65208" y="24048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65208" y="2496312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2990088"/>
            <a:ext cx="15361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9834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TRAQOM |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52760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47088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909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assessment digital attendance through the displayed SSG TRAQOM QR code.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414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7345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Confirm the attendance submission before starting assessment.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6781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1752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Attendance records support assessment and funding eligibility.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662172"/>
            <a:ext cx="146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1188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Ask the trainer immediately if the QR code or submission fails.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End of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You are ready to explain Azure data fundamentals.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977639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the labs and Learner Guide to prepare for DP-900.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Microsoft Azure Data Fundamentals (DP-900)  |  TGS-2023036641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7484</Words>
  <Application>Microsoft Office PowerPoint</Application>
  <PresentationFormat>Widescreen</PresentationFormat>
  <Paragraphs>1108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 SIHUA ALISHA</cp:lastModifiedBy>
  <cp:revision>5</cp:revision>
  <dcterms:created xsi:type="dcterms:W3CDTF">2013-01-27T09:14:16Z</dcterms:created>
  <dcterms:modified xsi:type="dcterms:W3CDTF">2026-07-10T04:58:33Z</dcterms:modified>
  <cp:category/>
</cp:coreProperties>
</file>